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6858000" cx="12191675"/>
  <p:notesSz cx="6858000" cy="9144000"/>
  <p:embeddedFontLst>
    <p:embeddedFont>
      <p:font typeface="Quattrocento Sans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7DD05B7-6B84-4AE9-B08C-B2B6FE39B418}">
  <a:tblStyle styleId="{77DD05B7-6B84-4AE9-B08C-B2B6FE39B41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QuattrocentoSans-bold.fntdata"/><Relationship Id="rId12" Type="http://schemas.openxmlformats.org/officeDocument/2006/relationships/font" Target="fonts/Quattrocento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QuattrocentoSans-boldItalic.fntdata"/><Relationship Id="rId14" Type="http://schemas.openxmlformats.org/officeDocument/2006/relationships/font" Target="fonts/Quattrocento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5.jpg"/><Relationship Id="rId6" Type="http://schemas.openxmlformats.org/officeDocument/2006/relationships/image" Target="../media/image4.jpg"/><Relationship Id="rId7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C0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_white_round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480" y="32004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640080" y="45720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B8973A"/>
                </a:solidFill>
                <a:latin typeface="Georgia"/>
                <a:ea typeface="Georgia"/>
                <a:cs typeface="Georgia"/>
                <a:sym typeface="Georgia"/>
              </a:rPr>
              <a:t>Куди йдуть спільні гроші родини?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640080" y="1737360"/>
            <a:ext cx="51207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C255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БІЛЬ</a:t>
            </a:r>
            <a:endParaRPr sz="17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 картки, 4 людини — і жодної спільної картини</a:t>
            </a:r>
            <a:endParaRPr sz="17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«Хто скільки витратив?» — ручні підрахунки щотижня</a:t>
            </a:r>
            <a:endParaRPr sz="17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Скинутись на подарунок таємно — сюрприз псується</a:t>
            </a:r>
            <a:endParaRPr sz="1700"/>
          </a:p>
        </p:txBody>
      </p:sp>
      <p:sp>
        <p:nvSpPr>
          <p:cNvPr id="87" name="Google Shape;87;p13"/>
          <p:cNvSpPr txBox="1"/>
          <p:nvPr/>
        </p:nvSpPr>
        <p:spPr>
          <a:xfrm>
            <a:off x="6400750" y="1857960"/>
            <a:ext cx="5120700" cy="19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EAD9A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РІШЕННЯ</a:t>
            </a:r>
            <a:endParaRPr sz="17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Жива стрічка всіх карток у реальному часі</a:t>
            </a:r>
            <a:endParaRPr sz="17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Авто-категоризація за MCC — без ручної праці</a:t>
            </a:r>
            <a:endParaRPr sz="17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Secret Gift — таємний збір із серверною ізоляцією</a:t>
            </a:r>
            <a:endParaRPr sz="1700"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8" name="Google Shape;88;p13"/>
          <p:cNvSpPr/>
          <p:nvPr/>
        </p:nvSpPr>
        <p:spPr>
          <a:xfrm>
            <a:off x="640075" y="5557100"/>
            <a:ext cx="10881300" cy="568800"/>
          </a:xfrm>
          <a:prstGeom prst="roundRect">
            <a:avLst>
              <a:gd fmla="val 16667" name="adj"/>
            </a:avLst>
          </a:prstGeom>
          <a:solidFill>
            <a:srgbClr val="F2E9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822972" y="5690605"/>
            <a:ext cx="10515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0C0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Family Wallet — спільний бюджет родини наживо + таємний збір на подарунки</a:t>
            </a:r>
            <a:r>
              <a:rPr b="1" lang="en-US" sz="1500">
                <a:solidFill>
                  <a:srgbClr val="0D0C0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5576050" y="2384450"/>
            <a:ext cx="633900" cy="159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5576050" y="2837050"/>
            <a:ext cx="633900" cy="159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5576050" y="3289650"/>
            <a:ext cx="633900" cy="159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E9C8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/>
        </p:nvSpPr>
        <p:spPr>
          <a:xfrm>
            <a:off x="2011680" y="50292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9B7A25"/>
                </a:solidFill>
                <a:latin typeface="Georgia"/>
                <a:ea typeface="Georgia"/>
                <a:cs typeface="Georgia"/>
                <a:sym typeface="Georgia"/>
              </a:rPr>
              <a:t>Family Wallet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B68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Спільний бюджет родини — наживо.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48640" y="1920240"/>
            <a:ext cx="914400" cy="457200"/>
          </a:xfrm>
          <a:prstGeom prst="roundRect">
            <a:avLst>
              <a:gd fmla="val 16667" name="adj"/>
            </a:avLst>
          </a:prstGeom>
          <a:solidFill>
            <a:srgbClr val="B8973A"/>
          </a:solidFill>
          <a:ln cap="flat" cmpd="sng" w="12700">
            <a:solidFill>
              <a:srgbClr val="D6D3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1600200" y="1920240"/>
            <a:ext cx="914400" cy="457200"/>
          </a:xfrm>
          <a:prstGeom prst="roundRect">
            <a:avLst>
              <a:gd fmla="val 16667" name="adj"/>
            </a:avLst>
          </a:prstGeom>
          <a:solidFill>
            <a:srgbClr val="0D0C0A"/>
          </a:solidFill>
          <a:ln cap="flat" cmpd="sng" w="12700">
            <a:solidFill>
              <a:srgbClr val="D6D3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2651760" y="1920240"/>
            <a:ext cx="914400" cy="457200"/>
          </a:xfrm>
          <a:prstGeom prst="roundRect">
            <a:avLst>
              <a:gd fmla="val 16667" name="adj"/>
            </a:avLst>
          </a:prstGeom>
          <a:solidFill>
            <a:srgbClr val="FAF8F3"/>
          </a:solidFill>
          <a:ln cap="flat" cmpd="sng" w="12700">
            <a:solidFill>
              <a:srgbClr val="D6D3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3703320" y="1920240"/>
            <a:ext cx="914400" cy="457200"/>
          </a:xfrm>
          <a:prstGeom prst="roundRect">
            <a:avLst>
              <a:gd fmla="val 16667" name="adj"/>
            </a:avLst>
          </a:prstGeom>
          <a:solidFill>
            <a:srgbClr val="2A6B2A"/>
          </a:solidFill>
          <a:ln cap="flat" cmpd="sng" w="12700">
            <a:solidFill>
              <a:srgbClr val="D6D3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4754879" y="1920240"/>
            <a:ext cx="914400" cy="457200"/>
          </a:xfrm>
          <a:prstGeom prst="roundRect">
            <a:avLst>
              <a:gd fmla="val 16667" name="adj"/>
            </a:avLst>
          </a:prstGeom>
          <a:solidFill>
            <a:srgbClr val="C2557A"/>
          </a:solidFill>
          <a:ln cap="flat" cmpd="sng" w="12700">
            <a:solidFill>
              <a:srgbClr val="D6D3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1-dashboard.jpg" id="103" name="Google Shape;1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49" y="2697950"/>
            <a:ext cx="1523900" cy="3373774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685805" y="6291925"/>
            <a:ext cx="2743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B68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Dashboard</a:t>
            </a:r>
            <a:endParaRPr/>
          </a:p>
        </p:txBody>
      </p:sp>
      <p:pic>
        <p:nvPicPr>
          <p:cNvPr descr="2-secret-gift.jpg" id="105" name="Google Shape;10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48637" y="2697494"/>
            <a:ext cx="1523900" cy="337468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3438974" y="6291913"/>
            <a:ext cx="2743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B68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Secret Gift</a:t>
            </a:r>
            <a:endParaRPr/>
          </a:p>
        </p:txBody>
      </p:sp>
      <p:pic>
        <p:nvPicPr>
          <p:cNvPr descr="3-money-request.jpg" id="107" name="Google Shape;10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57050" y="2706180"/>
            <a:ext cx="1523900" cy="335732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6447395" y="6291913"/>
            <a:ext cx="2743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B68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Money Request</a:t>
            </a:r>
            <a:endParaRPr/>
          </a:p>
        </p:txBody>
      </p:sp>
      <p:pic>
        <p:nvPicPr>
          <p:cNvPr descr="5-connected-cards.jpg" id="109" name="Google Shape;10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16500" y="2697500"/>
            <a:ext cx="1523900" cy="336125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9006840" y="6272863"/>
            <a:ext cx="2743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B68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Connected Cards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869680" y="548640"/>
            <a:ext cx="274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_white_round.png" id="112" name="Google Shape;11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180" y="246915"/>
            <a:ext cx="1188721" cy="1188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9B7A25"/>
                </a:solidFill>
                <a:latin typeface="Georgia"/>
                <a:ea typeface="Georgia"/>
                <a:cs typeface="Georgia"/>
                <a:sym typeface="Georgia"/>
              </a:rPr>
              <a:t>Аудиторія та обсяг ринку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548640" y="1280160"/>
            <a:ext cx="3840480" cy="2926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D3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731520" y="1417320"/>
            <a:ext cx="35661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0C0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Олена, 32</a:t>
            </a:r>
            <a:endParaRPr sz="15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B68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мама-організатор бюджету (core)</a:t>
            </a:r>
            <a:endParaRPr sz="1600"/>
          </a:p>
        </p:txBody>
      </p:sp>
      <p:sp>
        <p:nvSpPr>
          <p:cNvPr id="120" name="Google Shape;120;p15"/>
          <p:cNvSpPr txBox="1"/>
          <p:nvPr/>
        </p:nvSpPr>
        <p:spPr>
          <a:xfrm>
            <a:off x="731520" y="2331720"/>
            <a:ext cx="35661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0C0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Андрій &amp; Марія, 26–28</a:t>
            </a:r>
            <a:endParaRPr sz="15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B68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пара зі спільним бюджетом</a:t>
            </a:r>
            <a:endParaRPr sz="1600"/>
          </a:p>
        </p:txBody>
      </p:sp>
      <p:sp>
        <p:nvSpPr>
          <p:cNvPr id="121" name="Google Shape;121;p15"/>
          <p:cNvSpPr txBox="1"/>
          <p:nvPr/>
        </p:nvSpPr>
        <p:spPr>
          <a:xfrm>
            <a:off x="731520" y="3246120"/>
            <a:ext cx="35661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0C0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Ігор, 24</a:t>
            </a:r>
            <a:endParaRPr sz="15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B68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організатор подарунків (віральний драйвер)</a:t>
            </a:r>
            <a:endParaRPr sz="1600"/>
          </a:p>
        </p:txBody>
      </p:sp>
      <p:sp>
        <p:nvSpPr>
          <p:cNvPr id="122" name="Google Shape;122;p15"/>
          <p:cNvSpPr/>
          <p:nvPr/>
        </p:nvSpPr>
        <p:spPr>
          <a:xfrm>
            <a:off x="4663440" y="1371600"/>
            <a:ext cx="3474720" cy="777240"/>
          </a:xfrm>
          <a:prstGeom prst="roundRect">
            <a:avLst>
              <a:gd fmla="val 16667" name="adj"/>
            </a:avLst>
          </a:prstGeom>
          <a:solidFill>
            <a:srgbClr val="B897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9290" y="1598913"/>
            <a:ext cx="3474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TAM — 9+ млн клієнтів Monobank</a:t>
            </a:r>
            <a:endParaRPr sz="1500"/>
          </a:p>
        </p:txBody>
      </p:sp>
      <p:sp>
        <p:nvSpPr>
          <p:cNvPr id="124" name="Google Shape;124;p15"/>
          <p:cNvSpPr/>
          <p:nvPr/>
        </p:nvSpPr>
        <p:spPr>
          <a:xfrm>
            <a:off x="5029200" y="2286000"/>
            <a:ext cx="2743200" cy="777240"/>
          </a:xfrm>
          <a:prstGeom prst="roundRect">
            <a:avLst>
              <a:gd fmla="val 16667" name="adj"/>
            </a:avLst>
          </a:prstGeom>
          <a:solidFill>
            <a:srgbClr val="9B7A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5054999" y="2443775"/>
            <a:ext cx="264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SAM — родини/пари зі спільними витратами</a:t>
            </a:r>
            <a:endParaRPr sz="1500"/>
          </a:p>
        </p:txBody>
      </p:sp>
      <p:sp>
        <p:nvSpPr>
          <p:cNvPr id="126" name="Google Shape;126;p15"/>
          <p:cNvSpPr/>
          <p:nvPr/>
        </p:nvSpPr>
        <p:spPr>
          <a:xfrm>
            <a:off x="5394960" y="3200400"/>
            <a:ext cx="2011680" cy="777240"/>
          </a:xfrm>
          <a:prstGeom prst="roundRect">
            <a:avLst>
              <a:gd fmla="val 16667" name="adj"/>
            </a:avLst>
          </a:prstGeom>
          <a:solidFill>
            <a:srgbClr val="0D0C0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5374947" y="3358175"/>
            <a:ext cx="201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SOM — перші 1 000 → 10 000 родин</a:t>
            </a:r>
            <a:endParaRPr sz="1500"/>
          </a:p>
        </p:txBody>
      </p:sp>
      <p:graphicFrame>
        <p:nvGraphicFramePr>
          <p:cNvPr id="128" name="Google Shape;128;p15"/>
          <p:cNvGraphicFramePr/>
          <p:nvPr/>
        </p:nvGraphicFramePr>
        <p:xfrm>
          <a:off x="8464045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{77DD05B7-6B84-4AE9-B08C-B2B6FE39B418}</a:tableStyleId>
              </a:tblPr>
              <a:tblGrid>
                <a:gridCol w="660000"/>
                <a:gridCol w="660000"/>
                <a:gridCol w="660000"/>
                <a:gridCol w="660000"/>
                <a:gridCol w="660000"/>
              </a:tblGrid>
              <a:tr h="53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 u="none" cap="none" strike="noStrike">
                          <a:solidFill>
                            <a:srgbClr val="EAD9A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Фіча</a:t>
                      </a:r>
                      <a:endParaRPr/>
                    </a:p>
                  </a:txBody>
                  <a:tcPr marT="38100" marB="38100" marR="76200" marL="76200" anchor="ctr">
                    <a:lnB cap="flat" cmpd="sng" w="381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C0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EAD9A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Family Wallet</a:t>
                      </a:r>
                      <a:endParaRPr/>
                    </a:p>
                  </a:txBody>
                  <a:tcPr marT="38100" marB="38100" marR="76200" marL="76200" anchor="ctr"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C0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EAD9A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Mono банка</a:t>
                      </a:r>
                      <a:endParaRPr/>
                    </a:p>
                  </a:txBody>
                  <a:tcPr marT="38100" marB="38100" marR="76200" marL="762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C0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EAD9A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Honeydue</a:t>
                      </a:r>
                      <a:endParaRPr/>
                    </a:p>
                  </a:txBody>
                  <a:tcPr marT="38100" marB="38100" marR="76200" marL="762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381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C0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EAD9A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Spendee</a:t>
                      </a:r>
                      <a:endParaRPr/>
                    </a:p>
                  </a:txBody>
                  <a:tcPr marT="38100" marB="38100" marR="76200" marL="76200" anchor="ctr">
                    <a:lnB cap="flat" cmpd="sng" w="381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C0A"/>
                    </a:solidFill>
                  </a:tcPr>
                </a:tc>
              </a:tr>
              <a:tr h="53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Real-time стрічка</a:t>
                      </a:r>
                      <a:endParaRPr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✓</a:t>
                      </a:r>
                      <a:endParaRPr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—</a:t>
                      </a:r>
                      <a:endParaRPr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</a:t>
                      </a:r>
                      <a:endParaRPr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—</a:t>
                      </a:r>
                      <a:endParaRPr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Соцшар / реакції</a:t>
                      </a:r>
                      <a:endParaRPr/>
                    </a:p>
                  </a:txBody>
                  <a:tcPr marT="38100" marB="38100" marR="76200" marL="76200" anchor="ctr">
                    <a:lnT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9C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✓</a:t>
                      </a:r>
                      <a:endParaRPr/>
                    </a:p>
                  </a:txBody>
                  <a:tcPr marT="38100" marB="38100" marR="76200" marL="76200" anchor="ctr">
                    <a:lnT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9C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—</a:t>
                      </a:r>
                      <a:endParaRPr/>
                    </a:p>
                  </a:txBody>
                  <a:tcPr marT="38100" marB="38100" marR="76200" marL="76200" anchor="ctr">
                    <a:lnT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9C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</a:t>
                      </a:r>
                      <a:endParaRPr/>
                    </a:p>
                  </a:txBody>
                  <a:tcPr marT="38100" marB="38100" marR="76200" marL="76200" anchor="ctr">
                    <a:lnT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9C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—</a:t>
                      </a:r>
                      <a:endParaRPr/>
                    </a:p>
                  </a:txBody>
                  <a:tcPr marT="38100" marB="38100" marR="76200" marL="76200" anchor="ctr">
                    <a:lnT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9C8"/>
                    </a:solidFill>
                  </a:tcPr>
                </a:tc>
              </a:tr>
              <a:tr h="53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Secret Gift</a:t>
                      </a:r>
                      <a:endParaRPr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✓ унікально</a:t>
                      </a:r>
                      <a:endParaRPr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—</a:t>
                      </a:r>
                      <a:endParaRPr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—</a:t>
                      </a:r>
                      <a:endParaRPr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—</a:t>
                      </a:r>
                      <a:endParaRPr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1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Monobank-інтеграція</a:t>
                      </a:r>
                      <a:endParaRPr/>
                    </a:p>
                  </a:txBody>
                  <a:tcPr marT="38100" marB="38100" marR="76200" marL="76200" anchor="ctr">
                    <a:lnT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2E9C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✓</a:t>
                      </a:r>
                      <a:endParaRPr/>
                    </a:p>
                  </a:txBody>
                  <a:tcPr marT="38100" marB="38100" marR="76200" marL="76200" anchor="ctr">
                    <a:lnT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2E9C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✓</a:t>
                      </a:r>
                      <a:endParaRPr/>
                    </a:p>
                  </a:txBody>
                  <a:tcPr marT="38100" marB="38100" marR="76200" marL="76200" anchor="ctr">
                    <a:lnT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2E9C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—</a:t>
                      </a:r>
                      <a:endParaRPr/>
                    </a:p>
                  </a:txBody>
                  <a:tcPr marT="38100" marB="38100" marR="76200" marL="76200" anchor="ctr">
                    <a:lnT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2E9C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</a:t>
                      </a:r>
                      <a:endParaRPr/>
                    </a:p>
                  </a:txBody>
                  <a:tcPr marT="38100" marB="38100" marR="76200" marL="76200" anchor="ctr">
                    <a:lnT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2E9C8"/>
                    </a:solidFill>
                  </a:tcPr>
                </a:tc>
              </a:tr>
            </a:tbl>
          </a:graphicData>
        </a:graphic>
      </p:graphicFrame>
      <p:sp>
        <p:nvSpPr>
          <p:cNvPr id="129" name="Google Shape;129;p15"/>
          <p:cNvSpPr/>
          <p:nvPr/>
        </p:nvSpPr>
        <p:spPr>
          <a:xfrm>
            <a:off x="563675" y="4681625"/>
            <a:ext cx="11064300" cy="1149600"/>
          </a:xfrm>
          <a:prstGeom prst="roundRect">
            <a:avLst>
              <a:gd fmla="val 16667" name="adj"/>
            </a:avLst>
          </a:prstGeom>
          <a:solidFill>
            <a:srgbClr val="FBF7EC"/>
          </a:solidFill>
          <a:ln cap="flat" cmpd="sng" w="12700">
            <a:solidFill>
              <a:srgbClr val="F2E9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792290" y="4918460"/>
            <a:ext cx="10607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B7A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 Gap: </a:t>
            </a:r>
            <a:r>
              <a:rPr b="0" i="0" lang="en-US" sz="1500" u="none" cap="none" strike="noStrike">
                <a:solidFill>
                  <a:srgbClr val="0D0C0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прямих локальних аналогів зі стрічкою наживо + Secret Gift немає.</a:t>
            </a:r>
            <a:endParaRPr sz="15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B68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Можливості: Open Banking  · недозаповнена ніша  · сезонність подарунків драйвить віральність.</a:t>
            </a:r>
            <a:endParaRPr sz="1500"/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9B7A25"/>
                </a:solidFill>
                <a:latin typeface="Georgia"/>
                <a:ea typeface="Georgia"/>
                <a:cs typeface="Georgia"/>
                <a:sym typeface="Georgia"/>
              </a:rPr>
              <a:t>Бізнес-модель і монетизація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548640" y="1005840"/>
            <a:ext cx="1097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6B68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Freemium + Subscription — базове безкоштовно, платять за масштаб і необмежений Secret Gift</a:t>
            </a:r>
            <a:endParaRPr sz="1500"/>
          </a:p>
        </p:txBody>
      </p:sp>
      <p:graphicFrame>
        <p:nvGraphicFramePr>
          <p:cNvPr id="137" name="Google Shape;137;p16"/>
          <p:cNvGraphicFramePr/>
          <p:nvPr/>
        </p:nvGraphicFramePr>
        <p:xfrm>
          <a:off x="548640" y="16459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{77DD05B7-6B84-4AE9-B08C-B2B6FE39B418}</a:tableStyleId>
              </a:tblPr>
              <a:tblGrid>
                <a:gridCol w="1874525"/>
                <a:gridCol w="1874525"/>
                <a:gridCol w="1874525"/>
                <a:gridCol w="1874525"/>
              </a:tblGrid>
              <a:tr h="48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solidFill>
                      <a:srgbClr val="0D0C0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EAD9A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Free</a:t>
                      </a:r>
                      <a:endParaRPr/>
                    </a:p>
                  </a:txBody>
                  <a:tcPr marT="38100" marB="38100" marR="76200" marL="76200" anchor="ctr">
                    <a:solidFill>
                      <a:srgbClr val="0D0C0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EAD9A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Pro — 149 ₴/міс</a:t>
                      </a:r>
                      <a:endParaRPr/>
                    </a:p>
                  </a:txBody>
                  <a:tcPr marT="38100" marB="38100" marR="76200" marL="76200" anchor="ctr">
                    <a:solidFill>
                      <a:srgbClr val="0D0C0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EAD9A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Family+ — 349 ₴/міс</a:t>
                      </a:r>
                      <a:endParaRPr/>
                    </a:p>
                  </a:txBody>
                  <a:tcPr marT="38100" marB="38100" marR="76200" marL="76200" anchor="ctr">
                    <a:solidFill>
                      <a:srgbClr val="0D0C0A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Сімейних груп</a:t>
                      </a:r>
                      <a:endParaRPr/>
                    </a:p>
                  </a:txBody>
                  <a:tcPr marT="38100" marB="38100" marR="76200" marL="76200" anchor="ctr">
                    <a:lnB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9C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</a:t>
                      </a:r>
                      <a:endParaRPr/>
                    </a:p>
                  </a:txBody>
                  <a:tcPr marT="38100" marB="38100" marR="76200" marL="76200" anchor="ctr">
                    <a:lnB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9C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до 3</a:t>
                      </a:r>
                      <a:endParaRPr/>
                    </a:p>
                  </a:txBody>
                  <a:tcPr marT="38100" marB="38100" marR="76200" marL="76200" anchor="ctr">
                    <a:lnB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9C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необмежено</a:t>
                      </a:r>
                      <a:endParaRPr/>
                    </a:p>
                  </a:txBody>
                  <a:tcPr marT="38100" marB="38100" marR="76200" marL="76200" anchor="ctr">
                    <a:lnB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9C8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Членів / карток</a:t>
                      </a:r>
                      <a:endParaRPr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до 4 / 1</a:t>
                      </a:r>
                      <a:endParaRPr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до 10 / ∞</a:t>
                      </a:r>
                      <a:endParaRPr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∞ / ∞</a:t>
                      </a:r>
                      <a:endParaRPr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7EC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Real-time, перекази, реакції</a:t>
                      </a:r>
                      <a:endParaRPr/>
                    </a:p>
                  </a:txBody>
                  <a:tcPr marT="38100" marB="38100" marR="76200" marL="76200" anchor="ctr">
                    <a:lnT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9C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✓</a:t>
                      </a:r>
                      <a:endParaRPr/>
                    </a:p>
                  </a:txBody>
                  <a:tcPr marT="38100" marB="38100" marR="76200" marL="76200" anchor="ctr">
                    <a:lnT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9C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✓</a:t>
                      </a:r>
                      <a:endParaRPr/>
                    </a:p>
                  </a:txBody>
                  <a:tcPr marT="38100" marB="38100" marR="76200" marL="76200" anchor="ctr">
                    <a:lnT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9C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✓</a:t>
                      </a:r>
                      <a:endParaRPr/>
                    </a:p>
                  </a:txBody>
                  <a:tcPr marT="38100" marB="38100" marR="76200" marL="76200" anchor="ctr">
                    <a:lnT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9C8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Secret Gift</a:t>
                      </a:r>
                      <a:endParaRPr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 активний</a:t>
                      </a:r>
                      <a:endParaRPr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необмежено</a:t>
                      </a:r>
                      <a:endParaRPr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необмежено</a:t>
                      </a:r>
                      <a:endParaRPr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7EC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Аналітика</a:t>
                      </a:r>
                      <a:endParaRPr/>
                    </a:p>
                  </a:txBody>
                  <a:tcPr marT="38100" marB="38100" marR="76200" marL="76200" anchor="ctr">
                    <a:lnT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9C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поточний місяць</a:t>
                      </a:r>
                      <a:endParaRPr/>
                    </a:p>
                  </a:txBody>
                  <a:tcPr marT="38100" marB="38100" marR="76200" marL="76200" anchor="ctr">
                    <a:lnT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9C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повна історія</a:t>
                      </a:r>
                      <a:endParaRPr/>
                    </a:p>
                  </a:txBody>
                  <a:tcPr marT="38100" marB="38100" marR="76200" marL="76200" anchor="ctr">
                    <a:lnT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9C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повна історія</a:t>
                      </a:r>
                      <a:endParaRPr/>
                    </a:p>
                  </a:txBody>
                  <a:tcPr marT="38100" marB="38100" marR="76200" marL="76200" anchor="ctr">
                    <a:lnT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9C8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Експорт / Бюджети / AI (roadmap)</a:t>
                      </a:r>
                      <a:endParaRPr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—</a:t>
                      </a:r>
                      <a:endParaRPr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✓</a:t>
                      </a:r>
                      <a:endParaRPr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✓</a:t>
                      </a:r>
                      <a:endParaRPr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7EC"/>
                    </a:solidFill>
                  </a:tcPr>
                </a:tc>
              </a:tr>
            </a:tbl>
          </a:graphicData>
        </a:graphic>
      </p:graphicFrame>
      <p:sp>
        <p:nvSpPr>
          <p:cNvPr id="138" name="Google Shape;138;p16"/>
          <p:cNvSpPr/>
          <p:nvPr/>
        </p:nvSpPr>
        <p:spPr>
          <a:xfrm>
            <a:off x="8321040" y="1645920"/>
            <a:ext cx="3291840" cy="17373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D3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8458270" y="1818510"/>
            <a:ext cx="30174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B7A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Monetization Hooks</a:t>
            </a:r>
            <a:endParaRPr sz="16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D0C0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кількість карток</a:t>
            </a:r>
            <a:endParaRPr sz="16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D0C0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активних Secret Gift</a:t>
            </a:r>
            <a:endParaRPr sz="16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D0C0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розмір групи</a:t>
            </a:r>
            <a:endParaRPr sz="16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D0C0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глибина історії</a:t>
            </a:r>
            <a:endParaRPr sz="1500"/>
          </a:p>
        </p:txBody>
      </p:sp>
      <p:sp>
        <p:nvSpPr>
          <p:cNvPr id="140" name="Google Shape;140;p16"/>
          <p:cNvSpPr/>
          <p:nvPr/>
        </p:nvSpPr>
        <p:spPr>
          <a:xfrm>
            <a:off x="8321040" y="3566160"/>
            <a:ext cx="3291840" cy="1463040"/>
          </a:xfrm>
          <a:prstGeom prst="roundRect">
            <a:avLst>
              <a:gd fmla="val 16667" name="adj"/>
            </a:avLst>
          </a:prstGeom>
          <a:solidFill>
            <a:srgbClr val="0D0C0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8503920" y="3657600"/>
            <a:ext cx="30175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AD9A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Юніт-економіка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LTV ≈ $46.8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CAC $15–25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AD9A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LTV/CAC → 3×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502903" y="5640705"/>
            <a:ext cx="1106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B68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Базова цінність безкоштовна для маси й довіри; платність — мітигація загрози (низька готовність платити).</a:t>
            </a:r>
            <a:endParaRPr sz="1800"/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9B7A25"/>
                </a:solidFill>
                <a:latin typeface="Georgia"/>
                <a:ea typeface="Georgia"/>
                <a:cs typeface="Georgia"/>
                <a:sym typeface="Georgia"/>
              </a:rPr>
              <a:t>Go-to-Market: перша 1 000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548640" y="1371600"/>
            <a:ext cx="2697480" cy="1554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B8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548640" y="1371600"/>
            <a:ext cx="2697480" cy="164592"/>
          </a:xfrm>
          <a:prstGeom prst="rect">
            <a:avLst/>
          </a:prstGeom>
          <a:solidFill>
            <a:srgbClr val="B897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685800" y="1645920"/>
            <a:ext cx="24231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0C0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Instagram / TikTok</a:t>
            </a:r>
            <a:endParaRPr sz="16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B68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наочний продукт, CPC ≈ $0.20</a:t>
            </a:r>
            <a:endParaRPr sz="1600"/>
          </a:p>
        </p:txBody>
      </p:sp>
      <p:sp>
        <p:nvSpPr>
          <p:cNvPr id="151" name="Google Shape;151;p17"/>
          <p:cNvSpPr/>
          <p:nvPr/>
        </p:nvSpPr>
        <p:spPr>
          <a:xfrm>
            <a:off x="3383280" y="1371600"/>
            <a:ext cx="2697480" cy="1554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C255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3383280" y="1371600"/>
            <a:ext cx="2697480" cy="164592"/>
          </a:xfrm>
          <a:prstGeom prst="rect">
            <a:avLst/>
          </a:prstGeom>
          <a:solidFill>
            <a:srgbClr val="C255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3520440" y="1645920"/>
            <a:ext cx="24231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0C0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Referral · Secret Gift</a:t>
            </a:r>
            <a:endParaRPr sz="16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B68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вбудована віральність, CAC ≈ $1.5</a:t>
            </a:r>
            <a:endParaRPr sz="1600"/>
          </a:p>
        </p:txBody>
      </p:sp>
      <p:sp>
        <p:nvSpPr>
          <p:cNvPr id="154" name="Google Shape;154;p17"/>
          <p:cNvSpPr/>
          <p:nvPr/>
        </p:nvSpPr>
        <p:spPr>
          <a:xfrm>
            <a:off x="6217920" y="1371600"/>
            <a:ext cx="2697480" cy="1554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9B7A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6217920" y="1371600"/>
            <a:ext cx="2697480" cy="164592"/>
          </a:xfrm>
          <a:prstGeom prst="rect">
            <a:avLst/>
          </a:prstGeom>
          <a:solidFill>
            <a:srgbClr val="9B7A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6355080" y="1645920"/>
            <a:ext cx="24231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0C0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DOU / Reddit</a:t>
            </a:r>
            <a:endParaRPr sz="16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B68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технічна довіра, organic CAC ≈ $10</a:t>
            </a:r>
            <a:endParaRPr sz="1600"/>
          </a:p>
        </p:txBody>
      </p:sp>
      <p:sp>
        <p:nvSpPr>
          <p:cNvPr id="157" name="Google Shape;157;p17"/>
          <p:cNvSpPr/>
          <p:nvPr/>
        </p:nvSpPr>
        <p:spPr>
          <a:xfrm>
            <a:off x="9052560" y="1371600"/>
            <a:ext cx="2697480" cy="1554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D0C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9052560" y="1371600"/>
            <a:ext cx="2697480" cy="164592"/>
          </a:xfrm>
          <a:prstGeom prst="rect">
            <a:avLst/>
          </a:prstGeom>
          <a:solidFill>
            <a:srgbClr val="0D0C0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9189720" y="1645920"/>
            <a:ext cx="24231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D0C0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 Hunt</a:t>
            </a:r>
            <a:endParaRPr sz="15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8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сплеск трафіку в день запуску</a:t>
            </a:r>
            <a:endParaRPr sz="1500"/>
          </a:p>
        </p:txBody>
      </p:sp>
      <p:graphicFrame>
        <p:nvGraphicFramePr>
          <p:cNvPr id="160" name="Google Shape;160;p17"/>
          <p:cNvGraphicFramePr/>
          <p:nvPr/>
        </p:nvGraphicFramePr>
        <p:xfrm>
          <a:off x="548640" y="32918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{77DD05B7-6B84-4AE9-B08C-B2B6FE39B418}</a:tableStyleId>
              </a:tblPr>
              <a:tblGrid>
                <a:gridCol w="1706875"/>
                <a:gridCol w="1706875"/>
                <a:gridCol w="170687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EAD9A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Канал</a:t>
                      </a:r>
                      <a:endParaRPr/>
                    </a:p>
                  </a:txBody>
                  <a:tcPr marT="38100" marB="38100" marR="76200" marL="76200" anchor="ctr">
                    <a:lnB cap="flat" cmpd="sng" w="381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C0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EAD9A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Частка</a:t>
                      </a:r>
                      <a:endParaRPr/>
                    </a:p>
                  </a:txBody>
                  <a:tcPr marT="38100" marB="38100" marR="76200" marL="76200" anchor="ctr">
                    <a:lnB cap="flat" cmpd="sng" w="381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C0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EAD9A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CAC/реєстрація</a:t>
                      </a:r>
                      <a:endParaRPr/>
                    </a:p>
                  </a:txBody>
                  <a:tcPr marT="38100" marB="38100" marR="76200" marL="76200" anchor="ctr">
                    <a:lnB cap="flat" cmpd="sng" w="381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C0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Meta Ads</a:t>
                      </a:r>
                      <a:endParaRPr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40%</a:t>
                      </a:r>
                      <a:endParaRPr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$4.00</a:t>
                      </a:r>
                      <a:endParaRPr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Referral (Secret Gift)</a:t>
                      </a:r>
                      <a:endParaRPr/>
                    </a:p>
                  </a:txBody>
                  <a:tcPr marT="38100" marB="38100" marR="76200" marL="76200" anchor="ctr">
                    <a:lnT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9C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40%</a:t>
                      </a:r>
                      <a:endParaRPr/>
                    </a:p>
                  </a:txBody>
                  <a:tcPr marT="38100" marB="38100" marR="76200" marL="76200" anchor="ctr">
                    <a:lnT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9C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$1.50</a:t>
                      </a:r>
                      <a:endParaRPr/>
                    </a:p>
                  </a:txBody>
                  <a:tcPr marT="38100" marB="38100" marR="76200" marL="76200" anchor="ctr">
                    <a:lnT cap="flat" cmpd="sng" w="12700">
                      <a:solidFill>
                        <a:srgbClr val="EAD9A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9C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Organic (DOU/Reddit)</a:t>
                      </a:r>
                      <a:endParaRPr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20%</a:t>
                      </a:r>
                      <a:endParaRPr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$10.00</a:t>
                      </a:r>
                      <a:endParaRPr/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Зважений</a:t>
                      </a:r>
                      <a:endParaRPr/>
                    </a:p>
                  </a:txBody>
                  <a:tcPr marT="38100" marB="38100" marR="76200" marL="76200" anchor="ctr">
                    <a:lnT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2E9C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100%</a:t>
                      </a:r>
                      <a:endParaRPr/>
                    </a:p>
                  </a:txBody>
                  <a:tcPr marT="38100" marB="38100" marR="76200" marL="76200" anchor="ctr">
                    <a:lnT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2E9C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0D0C0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$4.20</a:t>
                      </a:r>
                      <a:endParaRPr/>
                    </a:p>
                  </a:txBody>
                  <a:tcPr marT="38100" marB="38100" marR="76200" marL="76200" anchor="ctr">
                    <a:lnT cap="flat" cmpd="sng" w="12700">
                      <a:solidFill>
                        <a:srgbClr val="F2E9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2E9C8"/>
                    </a:solidFill>
                  </a:tcPr>
                </a:tc>
              </a:tr>
            </a:tbl>
          </a:graphicData>
        </a:graphic>
      </p:graphicFrame>
      <p:sp>
        <p:nvSpPr>
          <p:cNvPr id="161" name="Google Shape;161;p17"/>
          <p:cNvSpPr/>
          <p:nvPr/>
        </p:nvSpPr>
        <p:spPr>
          <a:xfrm>
            <a:off x="5943600" y="3291840"/>
            <a:ext cx="5669280" cy="2286000"/>
          </a:xfrm>
          <a:prstGeom prst="roundRect">
            <a:avLst>
              <a:gd fmla="val 16667" name="adj"/>
            </a:avLst>
          </a:prstGeom>
          <a:solidFill>
            <a:srgbClr val="FBF7EC"/>
          </a:solidFill>
          <a:ln cap="flat" cmpd="sng" w="12700">
            <a:solidFill>
              <a:srgbClr val="F2E9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6172125" y="3596950"/>
            <a:ext cx="52122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9B7A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Конкурентний рів</a:t>
            </a:r>
            <a:endParaRPr sz="16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0D0C0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Проти Monobank: Secret Gift + крос-банковість + соцшар</a:t>
            </a:r>
            <a:endParaRPr sz="16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0D0C0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Проти Spendee / YNAB: швидкість, локальна інтеграція, ціна</a:t>
            </a:r>
            <a:endParaRPr sz="16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9B7A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Завтра: запуск на Product Hunt + 10 Secret Gift = вірусний старт без рекламного бюджету</a:t>
            </a:r>
            <a:endParaRPr sz="1600"/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5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