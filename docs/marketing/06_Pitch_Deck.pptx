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6858000" cx="12191675"/>
  <p:notesSz cx="6858000" cy="9144000"/>
  <p:embeddedFontLst>
    <p:embeddedFont>
      <p:font typeface="Cormorant Garamond"/>
      <p:regular r:id="rId12"/>
      <p:bold r:id="rId13"/>
      <p:italic r:id="rId14"/>
      <p:boldItalic r:id="rId15"/>
    </p:embeddedFont>
    <p:embeddedFont>
      <p:font typeface="Quattrocento Sans"/>
      <p:regular r:id="rId16"/>
      <p:bold r:id="rId17"/>
      <p:italic r:id="rId18"/>
      <p:boldItalic r:id="rId19"/>
    </p:embeddedFont>
    <p:embeddedFont>
      <p:font typeface="DM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2A5ED4-05A6-431C-87B8-200CC70E19B4}">
  <a:tblStyle styleId="{1B2A5ED4-05A6-431C-87B8-200CC70E19B4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DMSans-regular.fntdata"/><Relationship Id="rId11" Type="http://schemas.openxmlformats.org/officeDocument/2006/relationships/slide" Target="slides/slide5.xml"/><Relationship Id="rId22" Type="http://schemas.openxmlformats.org/officeDocument/2006/relationships/font" Target="fonts/DMSans-italic.fntdata"/><Relationship Id="rId10" Type="http://schemas.openxmlformats.org/officeDocument/2006/relationships/slide" Target="slides/slide4.xml"/><Relationship Id="rId21" Type="http://schemas.openxmlformats.org/officeDocument/2006/relationships/font" Target="fonts/DMSans-bold.fntdata"/><Relationship Id="rId13" Type="http://schemas.openxmlformats.org/officeDocument/2006/relationships/font" Target="fonts/CormorantGaramond-bold.fntdata"/><Relationship Id="rId12" Type="http://schemas.openxmlformats.org/officeDocument/2006/relationships/font" Target="fonts/CormorantGaramond-regular.fntdata"/><Relationship Id="rId23" Type="http://schemas.openxmlformats.org/officeDocument/2006/relationships/font" Target="fonts/DMSans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CormorantGaramond-boldItalic.fntdata"/><Relationship Id="rId14" Type="http://schemas.openxmlformats.org/officeDocument/2006/relationships/font" Target="fonts/CormorantGaramond-italic.fntdata"/><Relationship Id="rId17" Type="http://schemas.openxmlformats.org/officeDocument/2006/relationships/font" Target="fonts/QuattrocentoSans-bold.fntdata"/><Relationship Id="rId16" Type="http://schemas.openxmlformats.org/officeDocument/2006/relationships/font" Target="fonts/QuattrocentoSans-regular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QuattrocentoSans-bold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QuattrocentoSans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5" name="Google Shape;11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3" name="Google Shape;13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2.jpg"/><Relationship Id="rId7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C0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_white_round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480" y="320040"/>
            <a:ext cx="1188720" cy="118872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640080" y="457200"/>
            <a:ext cx="10058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800" u="none" cap="none" strike="noStrike">
                <a:solidFill>
                  <a:srgbClr val="B8973A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Куди йдуть спільні гроші родини?</a:t>
            </a:r>
            <a:endParaRPr i="0" sz="16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640080" y="1737360"/>
            <a:ext cx="51207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2100" u="none" cap="none" strike="noStrike">
                <a:solidFill>
                  <a:srgbClr val="C2557A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БІЛЬ</a:t>
            </a:r>
            <a:endParaRPr i="0" sz="19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4 картки, 4 людини — і жодної спільної картини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«Хто скільки витратив?» — ручні підрахунки щотижня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Скинутись на подарунок таємно — сюрприз псується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570350" y="1737350"/>
            <a:ext cx="5120700" cy="22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1" i="0" lang="en-US" sz="2100" u="none" cap="none" strike="noStrike">
                <a:solidFill>
                  <a:srgbClr val="EAD9A0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РІШЕННЯ</a:t>
            </a:r>
            <a:endParaRPr i="0" sz="19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Жива стрічка всіх карток у реальному часі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Авто-категоризація за MCC — без ручної праці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Secret Gift — таємний збір із серверною ізоляцією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640075" y="5557100"/>
            <a:ext cx="10881300" cy="568800"/>
          </a:xfrm>
          <a:prstGeom prst="roundRect">
            <a:avLst>
              <a:gd fmla="val 16667" name="adj"/>
            </a:avLst>
          </a:prstGeom>
          <a:solidFill>
            <a:srgbClr val="F2E9C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822972" y="5690605"/>
            <a:ext cx="10515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Family Wallet — спільний бюджет родини наживо + таємний збір на подарунки.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5715725" y="2284675"/>
            <a:ext cx="633900" cy="159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5715725" y="2697363"/>
            <a:ext cx="633900" cy="159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5715725" y="3189875"/>
            <a:ext cx="633900" cy="1593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E9C8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/>
        </p:nvSpPr>
        <p:spPr>
          <a:xfrm>
            <a:off x="1981043" y="338470"/>
            <a:ext cx="8229600" cy="10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8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Family Wallet</a:t>
            </a:r>
            <a:endParaRPr i="0" sz="22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en-US" sz="18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Спільний бюджет родини — наживо.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548640" y="1920240"/>
            <a:ext cx="914400" cy="457200"/>
          </a:xfrm>
          <a:prstGeom prst="roundRect">
            <a:avLst>
              <a:gd fmla="val 16667" name="adj"/>
            </a:avLst>
          </a:prstGeom>
          <a:solidFill>
            <a:srgbClr val="B8973A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1600200" y="1920240"/>
            <a:ext cx="914400" cy="457200"/>
          </a:xfrm>
          <a:prstGeom prst="roundRect">
            <a:avLst>
              <a:gd fmla="val 16667" name="adj"/>
            </a:avLst>
          </a:prstGeom>
          <a:solidFill>
            <a:srgbClr val="0D0C0A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2651760" y="1920240"/>
            <a:ext cx="914400" cy="457200"/>
          </a:xfrm>
          <a:prstGeom prst="roundRect">
            <a:avLst>
              <a:gd fmla="val 16667" name="adj"/>
            </a:avLst>
          </a:prstGeom>
          <a:solidFill>
            <a:srgbClr val="FAF8F3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/>
          <p:nvPr/>
        </p:nvSpPr>
        <p:spPr>
          <a:xfrm>
            <a:off x="3703320" y="1920240"/>
            <a:ext cx="914400" cy="457200"/>
          </a:xfrm>
          <a:prstGeom prst="roundRect">
            <a:avLst>
              <a:gd fmla="val 16667" name="adj"/>
            </a:avLst>
          </a:prstGeom>
          <a:solidFill>
            <a:srgbClr val="2A6B2A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4754879" y="1920240"/>
            <a:ext cx="914400" cy="457200"/>
          </a:xfrm>
          <a:prstGeom prst="roundRect">
            <a:avLst>
              <a:gd fmla="val 16667" name="adj"/>
            </a:avLst>
          </a:prstGeom>
          <a:solidFill>
            <a:srgbClr val="C2557A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1-dashboard.jpg" id="103" name="Google Shape;10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95449" y="2697950"/>
            <a:ext cx="1523900" cy="3373774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685805" y="6291925"/>
            <a:ext cx="274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Dashboard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2-secret-gift.jpg" id="105" name="Google Shape;10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48637" y="2697494"/>
            <a:ext cx="1523900" cy="337468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3438974" y="6291913"/>
            <a:ext cx="274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Secret Gift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3-money-request.jpg" id="107" name="Google Shape;10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57050" y="2706180"/>
            <a:ext cx="1523900" cy="335732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6447395" y="6291913"/>
            <a:ext cx="274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Money Request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descr="5-connected-cards.jpg" id="109" name="Google Shape;109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16500" y="2697500"/>
            <a:ext cx="1523900" cy="336125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9006840" y="6272863"/>
            <a:ext cx="2743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Connected Cards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8869680" y="548640"/>
            <a:ext cx="274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_white_round.png" id="112" name="Google Shape;11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02180" y="246915"/>
            <a:ext cx="1188721" cy="1188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5"/>
          <p:cNvSpPr txBox="1"/>
          <p:nvPr/>
        </p:nvSpPr>
        <p:spPr>
          <a:xfrm>
            <a:off x="548640" y="226085"/>
            <a:ext cx="10972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36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Аудиторія та обсяг ринку</a:t>
            </a:r>
            <a:endParaRPr i="0" sz="36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548640" y="1280160"/>
            <a:ext cx="3840480" cy="2926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731520" y="1417320"/>
            <a:ext cx="35661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Олена, 32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мама-організатор бюджету (core)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731520" y="2331720"/>
            <a:ext cx="35661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Андрій &amp; Марія, 26–28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пара зі спільним бюджетом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731520" y="3246120"/>
            <a:ext cx="3566100" cy="54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Ігор, 24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організатор подарунків (віральний драйвер)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4663440" y="1371600"/>
            <a:ext cx="3474720" cy="777240"/>
          </a:xfrm>
          <a:prstGeom prst="roundRect">
            <a:avLst>
              <a:gd fmla="val 16667" name="adj"/>
            </a:avLst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4689290" y="1598913"/>
            <a:ext cx="3474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TAM — 9+ млн клієнтів Monobank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5029200" y="2286000"/>
            <a:ext cx="2743200" cy="777240"/>
          </a:xfrm>
          <a:prstGeom prst="roundRect">
            <a:avLst>
              <a:gd fmla="val 16667" name="adj"/>
            </a:avLst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5054999" y="2443775"/>
            <a:ext cx="2640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SAM — родини/пари зі спільними витратами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5394960" y="3200400"/>
            <a:ext cx="2011800" cy="777300"/>
          </a:xfrm>
          <a:prstGeom prst="roundRect">
            <a:avLst>
              <a:gd fmla="val 16667" name="adj"/>
            </a:avLst>
          </a:prstGeom>
          <a:solidFill>
            <a:srgbClr val="0D0C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374947" y="3358175"/>
            <a:ext cx="2011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SOM — перші 1 000 → 10 000 родин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aphicFrame>
        <p:nvGraphicFramePr>
          <p:cNvPr id="128" name="Google Shape;128;p15"/>
          <p:cNvGraphicFramePr/>
          <p:nvPr/>
        </p:nvGraphicFramePr>
        <p:xfrm>
          <a:off x="8464045" y="13716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{1B2A5ED4-05A6-431C-87B8-200CC70E19B4}</a:tableStyleId>
              </a:tblPr>
              <a:tblGrid>
                <a:gridCol w="660000"/>
                <a:gridCol w="660000"/>
                <a:gridCol w="660000"/>
                <a:gridCol w="660000"/>
                <a:gridCol w="660000"/>
              </a:tblGrid>
              <a:tr h="531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EAD9A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Фіча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B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EAD9A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Family Wallet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EAD9A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Mono банка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EAD9A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Honeydue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B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1" lang="en-US" sz="800" u="none" cap="none" strike="noStrike">
                          <a:solidFill>
                            <a:srgbClr val="EAD9A0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Spendee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B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</a:tr>
              <a:tr h="531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Real-time стрічка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✓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~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1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Соцшар / реакції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✓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~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</a:tr>
              <a:tr h="531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Secret Gift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✓ унікально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31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Monobank-інтеграція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✓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✓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—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r>
                        <a:rPr b="0" lang="en-US" sz="800" u="none" cap="none" strike="noStrike">
                          <a:solidFill>
                            <a:srgbClr val="0D0C0A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~</a:t>
                      </a:r>
                      <a:endParaRPr sz="1400" u="none" cap="none" strike="noStrike"/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</a:tr>
            </a:tbl>
          </a:graphicData>
        </a:graphic>
      </p:graphicFrame>
      <p:sp>
        <p:nvSpPr>
          <p:cNvPr id="129" name="Google Shape;129;p15"/>
          <p:cNvSpPr/>
          <p:nvPr/>
        </p:nvSpPr>
        <p:spPr>
          <a:xfrm>
            <a:off x="563675" y="4681625"/>
            <a:ext cx="11064300" cy="1149600"/>
          </a:xfrm>
          <a:prstGeom prst="roundRect">
            <a:avLst>
              <a:gd fmla="val 16667" name="adj"/>
            </a:avLst>
          </a:prstGeom>
          <a:solidFill>
            <a:srgbClr val="FBF7EC"/>
          </a:solidFill>
          <a:ln cap="flat" cmpd="sng" w="12700">
            <a:solidFill>
              <a:srgbClr val="F2E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792290" y="4918460"/>
            <a:ext cx="10607100" cy="6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7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Product Gap: </a:t>
            </a:r>
            <a:r>
              <a:rPr i="0" lang="en-US" sz="17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прямих локальних аналогів зі стрічкою наживо + Secret Gift немає.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5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Можливості: Open Banking  · недозаповнена ніша  · сезонність подарунків драйвить віральність.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6"/>
          <p:cNvSpPr txBox="1"/>
          <p:nvPr/>
        </p:nvSpPr>
        <p:spPr>
          <a:xfrm>
            <a:off x="548640" y="196135"/>
            <a:ext cx="10972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36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Бізнес-модель і монетизація</a:t>
            </a:r>
            <a:endParaRPr i="0" sz="36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36" name="Google Shape;136;p16"/>
          <p:cNvSpPr txBox="1"/>
          <p:nvPr/>
        </p:nvSpPr>
        <p:spPr>
          <a:xfrm>
            <a:off x="548640" y="1005840"/>
            <a:ext cx="10972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i="0" lang="en-US" sz="16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Freemium + Subscription — базове безкоштовно, платять за масштаб і необмежений Secret Gift</a:t>
            </a:r>
            <a:endParaRPr i="0" sz="17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aphicFrame>
        <p:nvGraphicFramePr>
          <p:cNvPr id="137" name="Google Shape;137;p16"/>
          <p:cNvGraphicFramePr/>
          <p:nvPr/>
        </p:nvGraphicFramePr>
        <p:xfrm>
          <a:off x="54864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{1B2A5ED4-05A6-431C-87B8-200CC70E19B4}</a:tableStyleId>
              </a:tblPr>
              <a:tblGrid>
                <a:gridCol w="1874525"/>
                <a:gridCol w="1874525"/>
                <a:gridCol w="1874525"/>
                <a:gridCol w="1874525"/>
              </a:tblGrid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EAD9A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Free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EAD9A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 — 149 ₴/міс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EAD9A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Family+ — 349 ₴/міс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solidFill>
                      <a:srgbClr val="0D0C0A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Сімейних груп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до 3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необмежено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Членів / карток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до 4 / 1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до 10 / ∞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∞ / ∞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Real-time, перекази, реакції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✓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✓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✓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Secret Gift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 активний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необмежено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необмежено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Аналітика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поточний місяць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повна історія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повна історія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Експорт / Бюджети / AI (roadmap)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—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✓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✓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F7EC"/>
                    </a:solidFill>
                  </a:tcPr>
                </a:tc>
              </a:tr>
            </a:tbl>
          </a:graphicData>
        </a:graphic>
      </p:graphicFrame>
      <p:sp>
        <p:nvSpPr>
          <p:cNvPr id="138" name="Google Shape;138;p16"/>
          <p:cNvSpPr/>
          <p:nvPr/>
        </p:nvSpPr>
        <p:spPr>
          <a:xfrm>
            <a:off x="8321040" y="1645920"/>
            <a:ext cx="3291840" cy="1737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8458270" y="1818510"/>
            <a:ext cx="3017400" cy="12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Monetization Hooks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кількість карток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активних Secret Gift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розмір групи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глибина історії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8321040" y="3566160"/>
            <a:ext cx="3291840" cy="1463040"/>
          </a:xfrm>
          <a:prstGeom prst="roundRect">
            <a:avLst>
              <a:gd fmla="val 16667" name="adj"/>
            </a:avLst>
          </a:prstGeom>
          <a:solidFill>
            <a:srgbClr val="0D0C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8503920" y="3657600"/>
            <a:ext cx="30174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AD9A0"/>
                </a:solidFill>
                <a:latin typeface="DM Sans"/>
                <a:ea typeface="DM Sans"/>
                <a:cs typeface="DM Sans"/>
                <a:sym typeface="DM Sans"/>
              </a:rPr>
              <a:t>Юніт-економіка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LTV ≈ $46.8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CAC $15–25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AD9A0"/>
                </a:solidFill>
                <a:latin typeface="DM Sans"/>
                <a:ea typeface="DM Sans"/>
                <a:cs typeface="DM Sans"/>
                <a:sym typeface="DM Sans"/>
              </a:rPr>
              <a:t>LTV/CAC → 3×</a:t>
            </a:r>
            <a:endParaRPr i="0" sz="14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502903" y="5640705"/>
            <a:ext cx="11064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i="0" lang="en-US" sz="16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Базова цінність безкоштовна для маси й довіри; платність — мітигація загрози (низька готовність платити).</a:t>
            </a:r>
            <a:endParaRPr i="0" sz="18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/>
          <p:nvPr/>
        </p:nvSpPr>
        <p:spPr>
          <a:xfrm>
            <a:off x="548640" y="265985"/>
            <a:ext cx="10972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36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Go-to-Market: перша 1 000</a:t>
            </a:r>
            <a:endParaRPr i="0" sz="3600" u="none" cap="none" strike="noStrike">
              <a:solidFill>
                <a:srgbClr val="000000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548640" y="1371600"/>
            <a:ext cx="2697480" cy="1554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B897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548640" y="1371600"/>
            <a:ext cx="2697480" cy="164592"/>
          </a:xfrm>
          <a:prstGeom prst="rect">
            <a:avLst/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685800" y="1645920"/>
            <a:ext cx="24231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Instagram / TikTok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наочний продукт, CPC ≈ $0.20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3383280" y="1371600"/>
            <a:ext cx="2697480" cy="1554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C255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3383280" y="1371600"/>
            <a:ext cx="2697480" cy="164592"/>
          </a:xfrm>
          <a:prstGeom prst="rect">
            <a:avLst/>
          </a:prstGeom>
          <a:solidFill>
            <a:srgbClr val="C255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3520440" y="1645920"/>
            <a:ext cx="24231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Referral · Secret Gift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вбудована віральність, CAC ≈ $1.5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6217920" y="1371600"/>
            <a:ext cx="2697480" cy="1554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9B7A2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6217920" y="1371600"/>
            <a:ext cx="2697480" cy="164592"/>
          </a:xfrm>
          <a:prstGeom prst="rect">
            <a:avLst/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6355080" y="1645920"/>
            <a:ext cx="24231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DOU / Reddit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технічна довіра, organic CAC ≈ $10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9052560" y="1371600"/>
            <a:ext cx="2697480" cy="15544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9050">
            <a:solidFill>
              <a:srgbClr val="0D0C0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9052560" y="1371600"/>
            <a:ext cx="2697480" cy="164592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9189720" y="1645920"/>
            <a:ext cx="24231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Product Hunt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i="0" lang="en-US" sz="12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сплеск трафіку в день запуску</a:t>
            </a:r>
            <a:endParaRPr i="0" sz="15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aphicFrame>
        <p:nvGraphicFramePr>
          <p:cNvPr id="160" name="Google Shape;160;p17"/>
          <p:cNvGraphicFramePr/>
          <p:nvPr/>
        </p:nvGraphicFramePr>
        <p:xfrm>
          <a:off x="548640" y="32918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{1B2A5ED4-05A6-431C-87B8-200CC70E19B4}</a:tableStyleId>
              </a:tblPr>
              <a:tblGrid>
                <a:gridCol w="1706875"/>
                <a:gridCol w="1706875"/>
                <a:gridCol w="1706875"/>
              </a:tblGrid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EAD9A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Канал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381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EAD9A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Частка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381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EAD9A0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CAC/реєстрація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B cap="flat" cmpd="sng" w="381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D0C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Meta Ads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40%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$4.00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Referral (Secret Gift)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40%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$1.50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EAD9A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E9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Organic (DOU/Reddit)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20%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$10.00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L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Зважений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100%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rgbClr val="0D0C0A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$4.20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38100" marB="38100" marR="76200" marL="76200" anchor="ctr">
                    <a:lnT cap="flat" cmpd="sng" w="12700">
                      <a:solidFill>
                        <a:srgbClr val="F2E9C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2E9C8"/>
                    </a:solidFill>
                  </a:tcPr>
                </a:tc>
              </a:tr>
            </a:tbl>
          </a:graphicData>
        </a:graphic>
      </p:graphicFrame>
      <p:sp>
        <p:nvSpPr>
          <p:cNvPr id="161" name="Google Shape;161;p17"/>
          <p:cNvSpPr/>
          <p:nvPr/>
        </p:nvSpPr>
        <p:spPr>
          <a:xfrm>
            <a:off x="5943600" y="3291840"/>
            <a:ext cx="5669280" cy="2286000"/>
          </a:xfrm>
          <a:prstGeom prst="roundRect">
            <a:avLst>
              <a:gd fmla="val 16667" name="adj"/>
            </a:avLst>
          </a:prstGeom>
          <a:solidFill>
            <a:srgbClr val="FBF7EC"/>
          </a:solidFill>
          <a:ln cap="flat" cmpd="sng" w="12700">
            <a:solidFill>
              <a:srgbClr val="F2E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6172125" y="3596950"/>
            <a:ext cx="52122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Конкурентний рів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i="0" lang="en-US" sz="14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Проти Monobank: Secret Gift + крос-банковість + соцшар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i="0" lang="en-US" sz="14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Проти Spendee / YNAB: швидкість, локальна інтеграція, ціна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Завтра: запуск на Product Hunt + 10 Secret Gift = вірусний старт без рекламного бюджету</a:t>
            </a:r>
            <a:endParaRPr i="0" sz="1600" u="none" cap="none" strike="noStrik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