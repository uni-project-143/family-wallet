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  <p:embeddedFont>
      <p:font typeface="DM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family-wallet.pages.dev/" TargetMode="External"/><Relationship Id="rId5" Type="http://schemas.openxmlformats.org/officeDocument/2006/relationships/hyperlink" Target="https://family-wallet-backend-tb1v.onrender.com/" TargetMode="External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C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hite_round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6075" y="320050"/>
            <a:ext cx="1591124" cy="159112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B8973A"/>
                </a:solidFill>
                <a:latin typeface="Georgia"/>
                <a:ea typeface="Georgia"/>
                <a:cs typeface="Georgia"/>
                <a:sym typeface="Georgia"/>
              </a:rPr>
              <a:t>Проблема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40076" y="1824475"/>
            <a:ext cx="856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Родина має спільні гроші — але не має спільної картини.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99943" y="3035750"/>
            <a:ext cx="10515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EAD9A0"/>
                </a:solidFill>
                <a:latin typeface="DM Sans"/>
                <a:ea typeface="DM Sans"/>
                <a:cs typeface="DM Sans"/>
                <a:sym typeface="DM Sans"/>
              </a:rPr>
              <a:t>Витрати розкидані по 4 картках різних людей — ніхто не бачить цілого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EAD9A0"/>
                </a:solidFill>
                <a:latin typeface="DM Sans"/>
                <a:ea typeface="DM Sans"/>
                <a:cs typeface="DM Sans"/>
                <a:sym typeface="DM Sans"/>
              </a:rPr>
              <a:t>«Хто це купив?» і «куди пішли гроші?» — ручні підрахунки щотижня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EAD9A0"/>
                </a:solidFill>
                <a:latin typeface="DM Sans"/>
                <a:ea typeface="DM Sans"/>
                <a:cs typeface="DM Sans"/>
                <a:sym typeface="DM Sans"/>
              </a:rPr>
              <a:t>Зібратись на подарунок таємно неможливо — сюрприз псується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EAD9A0"/>
                </a:solidFill>
                <a:latin typeface="DM Sans"/>
                <a:ea typeface="DM Sans"/>
                <a:cs typeface="DM Sans"/>
                <a:sym typeface="DM Sans"/>
              </a:rPr>
              <a:t>Банківські «спільні банки» = один рахунок; трекери = ручні таблиці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Рішення (MVP)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48640" y="1051560"/>
            <a:ext cx="110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Спільний бюджет родини наживо + таємний збір на подарунки</a:t>
            </a:r>
            <a:endParaRPr sz="1700"/>
          </a:p>
        </p:txBody>
      </p:sp>
      <p:sp>
        <p:nvSpPr>
          <p:cNvPr id="94" name="Google Shape;94;p14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48640" y="1737360"/>
            <a:ext cx="146304" cy="1828800"/>
          </a:xfrm>
          <a:prstGeom prst="rect">
            <a:avLst/>
          </a:prstGeom>
          <a:solidFill>
            <a:srgbClr val="2A6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22959" y="1920240"/>
            <a:ext cx="3200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Жива стрічка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усі картки родини в реальному часі (WebSocket)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343400" y="1737360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343400" y="1737360"/>
            <a:ext cx="146304" cy="1828800"/>
          </a:xfrm>
          <a:prstGeom prst="rect">
            <a:avLst/>
          </a:prstGeom>
          <a:solidFill>
            <a:srgbClr val="C255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617720" y="1920240"/>
            <a:ext cx="3200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Secret Gift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таємний збір із серверною ізоляцією від іменинника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138160" y="1737360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138160" y="1737360"/>
            <a:ext cx="146304" cy="1828800"/>
          </a:xfrm>
          <a:prstGeom prst="rect">
            <a:avLst/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412480" y="1920240"/>
            <a:ext cx="3200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Перекази й запити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картка→картка + money requests усередині родини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48640" y="3840479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48640" y="3840479"/>
            <a:ext cx="146304" cy="18288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22959" y="4023359"/>
            <a:ext cx="32004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Emoji</a:t>
            </a: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-реакції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соціальний шар над спільними витратами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343400" y="3840479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343400" y="3840479"/>
            <a:ext cx="146304" cy="1828800"/>
          </a:xfrm>
          <a:prstGeom prst="rect">
            <a:avLst/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617720" y="4023359"/>
            <a:ext cx="32004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Monobank</a:t>
            </a: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-інтеграція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webhook + авто-категоризація за MCC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138160" y="3840479"/>
            <a:ext cx="356616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138160" y="3840479"/>
            <a:ext cx="146304" cy="1828800"/>
          </a:xfrm>
          <a:prstGeom prst="rect">
            <a:avLst/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412480" y="4023359"/>
            <a:ext cx="3200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C0A"/>
                </a:solidFill>
                <a:latin typeface="DM Sans"/>
                <a:ea typeface="DM Sans"/>
                <a:cs typeface="DM Sans"/>
                <a:sym typeface="DM Sans"/>
              </a:rPr>
              <a:t>Безпека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6B6860"/>
                </a:solidFill>
                <a:latin typeface="DM Sans"/>
                <a:ea typeface="DM Sans"/>
                <a:cs typeface="DM Sans"/>
                <a:sym typeface="DM Sans"/>
              </a:rPr>
              <a:t>AES-256-GCM токени, read-only, JWT, rate-limit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>
    <mc:Choice Requires="p14">
      <p:transition spd="slow" p14:dur="30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Технологічний стек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Сучасний async-стек, кастомний UI без важких бібліотек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48640" y="1737360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48640" y="1737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77240" y="2286000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Vue 3 (Composition API)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Vite 6 · Vue Router 4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Axios · composables (без Pinia)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кастомний UI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343400" y="173736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43400" y="1737360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343400" y="1737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572000" y="2286000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FastAPI (async)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Python · Pydantic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REST + WebSocket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сервісний шар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138160" y="173736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138160" y="1737360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138160" y="1737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66760" y="2286000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MongoDB Atlas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Beanie ODM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Users · Groups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Transactions · Gifts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48640" y="4069079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48640" y="4069079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2A6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48640" y="4069079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/ Integrations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77240" y="4617719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WebSocket (native)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Monobank Personal API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Firebase FCM (push)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SendGrid (email)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343400" y="4069079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343400" y="4069079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C255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4343400" y="4069079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572000" y="4617719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JWT (HS256)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bcrypt · token blacklist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AES-256-GCM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rate-limiting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8138160" y="4069079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138160" y="4069079"/>
            <a:ext cx="3566160" cy="457200"/>
          </a:xfrm>
          <a:prstGeom prst="roundRect">
            <a:avLst>
              <a:gd fmla="val 16667" name="adj"/>
            </a:avLst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138160" y="4069079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DevOps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66760" y="4617719"/>
            <a:ext cx="3200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Docker Compose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GitHub Actions CI/CD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Vite build · code-split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тестове покриття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Архітектура: FE ↔ BE ↔ DB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Взаємодія шарів і зовнішніх сервісів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20090" y="1920253"/>
            <a:ext cx="31089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B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261815" y="2011680"/>
            <a:ext cx="310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44665" y="2520975"/>
            <a:ext cx="2743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Vue 3 SPA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views → composables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services (Axios)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useWebSocket (reconnect)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572000" y="1920240"/>
            <a:ext cx="31089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B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732113" y="2514600"/>
            <a:ext cx="2743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(async)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 API + routers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ConnectionManager (WS)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services · security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8732535" y="1920240"/>
            <a:ext cx="30174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B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595360" y="2011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823960" y="2514600"/>
            <a:ext cx="2651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MongoDB Atlas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Beanie ODM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sessions (atomic)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Users·Groups·Txns·Gifts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520451" y="2834625"/>
            <a:ext cx="960300" cy="54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3314825" y="2361648"/>
            <a:ext cx="1371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 + </a:t>
            </a:r>
            <a:endParaRPr b="1" i="0" sz="1100" u="none" cap="none" strike="noStrike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WebSocket</a:t>
            </a:r>
            <a:endParaRPr sz="1500"/>
          </a:p>
        </p:txBody>
      </p:sp>
      <p:sp>
        <p:nvSpPr>
          <p:cNvPr id="159" name="Google Shape;159;p16"/>
          <p:cNvSpPr/>
          <p:nvPr/>
        </p:nvSpPr>
        <p:spPr>
          <a:xfrm>
            <a:off x="7726674" y="2834650"/>
            <a:ext cx="960300" cy="54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521034" y="2446260"/>
            <a:ext cx="137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Beanie ODM</a:t>
            </a:r>
            <a:endParaRPr sz="1500"/>
          </a:p>
        </p:txBody>
      </p:sp>
      <p:grpSp>
        <p:nvGrpSpPr>
          <p:cNvPr id="161" name="Google Shape;161;p16"/>
          <p:cNvGrpSpPr/>
          <p:nvPr/>
        </p:nvGrpSpPr>
        <p:grpSpPr>
          <a:xfrm>
            <a:off x="2621075" y="4807515"/>
            <a:ext cx="6980077" cy="1574170"/>
            <a:chOff x="4541363" y="4277990"/>
            <a:chExt cx="6980077" cy="1574170"/>
          </a:xfrm>
        </p:grpSpPr>
        <p:sp>
          <p:nvSpPr>
            <p:cNvPr id="162" name="Google Shape;162;p16"/>
            <p:cNvSpPr/>
            <p:nvPr/>
          </p:nvSpPr>
          <p:spPr>
            <a:xfrm>
              <a:off x="4572000" y="5029200"/>
              <a:ext cx="2194500" cy="822900"/>
            </a:xfrm>
            <a:prstGeom prst="roundRect">
              <a:avLst>
                <a:gd fmla="val 16667" name="adj"/>
              </a:avLst>
            </a:prstGeom>
            <a:solidFill>
              <a:srgbClr val="0D0C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4572000" y="5074920"/>
              <a:ext cx="21945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EAD9A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Monobank API</a:t>
              </a:r>
              <a:endParaRPr/>
            </a:p>
            <a:p>
              <a:pPr indent="0" lvl="0" marL="0" marR="0" rtl="0" algn="ct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webhook</a:t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6949440" y="5029200"/>
              <a:ext cx="2194560" cy="822960"/>
            </a:xfrm>
            <a:prstGeom prst="roundRect">
              <a:avLst>
                <a:gd fmla="val 16667" name="adj"/>
              </a:avLst>
            </a:prstGeom>
            <a:solidFill>
              <a:srgbClr val="0D0C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6949440" y="5074920"/>
              <a:ext cx="21945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EAD9A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Firebase FCM</a:t>
              </a:r>
              <a:endParaRPr/>
            </a:p>
            <a:p>
              <a:pPr indent="0" lvl="0" marL="0" marR="0" rtl="0" algn="ct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push</a:t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9326880" y="5029200"/>
              <a:ext cx="2194560" cy="822960"/>
            </a:xfrm>
            <a:prstGeom prst="roundRect">
              <a:avLst>
                <a:gd fmla="val 16667" name="adj"/>
              </a:avLst>
            </a:prstGeom>
            <a:solidFill>
              <a:srgbClr val="0D0C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9326880" y="5074920"/>
              <a:ext cx="21945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EAD9A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SendGrid</a:t>
              </a:r>
              <a:endParaRPr/>
            </a:p>
            <a:p>
              <a:pPr indent="0" lvl="0" marL="0" marR="0" rtl="0" algn="ct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email</a:t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4541363" y="4277990"/>
              <a:ext cx="6949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00" u="none" cap="none" strike="noStrike">
                  <a:solidFill>
                    <a:srgbClr val="6B686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↑ </a:t>
              </a:r>
              <a:r>
                <a:rPr b="1" i="0" lang="en-US" u="none" cap="none" strike="noStrike">
                  <a:solidFill>
                    <a:srgbClr val="6B686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зовнішні інтеграції бекенду</a:t>
              </a:r>
              <a:endParaRPr sz="17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Інженерні виклики, які подолали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48640" y="1371600"/>
            <a:ext cx="146304" cy="9144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68680" y="1444752"/>
            <a:ext cx="105156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Серверна ізоляція Secret Gift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Сховати збір від іменинника на фронті — наївно. Винесли на сервер: $nor-фільтр стрічки + статус-керована видимість, стійка до таймзон.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48640" y="2350008"/>
            <a:ext cx="1106424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48640" y="2350008"/>
            <a:ext cx="146304" cy="9144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868680" y="2423160"/>
            <a:ext cx="105156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Атомарність парних транзакцій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Переказ і прийом запиту = списання+зарахування. MongoDB sessions гарантують rollback — баланси ніколи не «розсинхронізуються».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48640" y="3328416"/>
            <a:ext cx="1106424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48640" y="3328416"/>
            <a:ext cx="146304" cy="9144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868680" y="3401568"/>
            <a:ext cx="105156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Monobank rate-limit 1 запит / 60 с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Синхронізацію збудували навколо webhook + дедуплікації за mono_id, а не наївного polling, який упирався б у ліміт.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48640" y="4306824"/>
            <a:ext cx="1106424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48640" y="4306824"/>
            <a:ext cx="146304" cy="9144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68680" y="4379976"/>
            <a:ext cx="105156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без втрат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WebSocket з auto-reconnect (exponential backoff) і heartbeat ping/pong кожні 30с — стрічка оновлюється навіть після обриву мережі.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48640" y="5285232"/>
            <a:ext cx="1106424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48640" y="5285232"/>
            <a:ext cx="146304" cy="914400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868680" y="5358384"/>
            <a:ext cx="105156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Безпека банківського рівня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AES-256-GCM шифрування токена (унікальний nonce), read-only доступ, bcrypt, token blacklist з TTL, rate-limit на login/transfer.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C0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hite_round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49" y="320050"/>
            <a:ext cx="1234451" cy="123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640080" y="5486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B8973A"/>
                </a:solidFill>
                <a:latin typeface="Georgia"/>
                <a:ea typeface="Georgia"/>
                <a:cs typeface="Georgia"/>
                <a:sym typeface="Georgia"/>
              </a:rPr>
              <a:t>Демонстрація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D9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Спробуйте продукт у дії — посилання нижче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40075" y="2468875"/>
            <a:ext cx="8219400" cy="777300"/>
          </a:xfrm>
          <a:prstGeom prst="roundRect">
            <a:avLst>
              <a:gd fmla="val 16667" name="adj"/>
            </a:avLst>
          </a:prstGeom>
          <a:solidFill>
            <a:srgbClr val="FBF7EC"/>
          </a:solidFill>
          <a:ln cap="flat" cmpd="sng" w="12700">
            <a:solidFill>
              <a:srgbClr val="F2E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868875" y="2662450"/>
            <a:ext cx="664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7A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Live-застосунок:</a:t>
            </a:r>
            <a:r>
              <a:rPr b="1" i="0" lang="en-US" sz="1600" u="none" cap="none" strike="noStrike">
                <a:solidFill>
                  <a:srgbClr val="9B7A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https://family-wallet.pages.dev/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40075" y="3383275"/>
            <a:ext cx="8219400" cy="777300"/>
          </a:xfrm>
          <a:prstGeom prst="roundRect">
            <a:avLst>
              <a:gd fmla="val 16667" name="adj"/>
            </a:avLst>
          </a:prstGeom>
          <a:solidFill>
            <a:srgbClr val="FBF7EC"/>
          </a:solidFill>
          <a:ln cap="flat" cmpd="sng" w="12700">
            <a:solidFill>
              <a:srgbClr val="F2E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824600" y="3560500"/>
            <a:ext cx="794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7A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  </a:t>
            </a:r>
            <a:r>
              <a:rPr i="0" lang="en-US" sz="14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https://github.com/Uni-Project-143/Family-Wallet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0075" y="4297675"/>
            <a:ext cx="8289300" cy="777300"/>
          </a:xfrm>
          <a:prstGeom prst="roundRect">
            <a:avLst>
              <a:gd fmla="val 16667" name="adj"/>
            </a:avLst>
          </a:prstGeom>
          <a:solidFill>
            <a:srgbClr val="FBF7EC"/>
          </a:solidFill>
          <a:ln cap="flat" cmpd="sng" w="12700">
            <a:solidFill>
              <a:srgbClr val="F2E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824600" y="4474900"/>
            <a:ext cx="801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7A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API-документація (Swagger):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50">
                <a:solidFill>
                  <a:srgbClr val="B897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50">
                <a:solidFill>
                  <a:srgbClr val="262626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https://family-wallet-backend-tb1v.onrender.com/</a:t>
            </a:r>
            <a:r>
              <a:rPr lang="en-US" sz="15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2" name="Google Shape;202;p18"/>
          <p:cNvGrpSpPr/>
          <p:nvPr/>
        </p:nvGrpSpPr>
        <p:grpSpPr>
          <a:xfrm>
            <a:off x="9440760" y="4013300"/>
            <a:ext cx="2148900" cy="2331600"/>
            <a:chOff x="9281160" y="4343400"/>
            <a:chExt cx="2148900" cy="2331600"/>
          </a:xfrm>
        </p:grpSpPr>
        <p:sp>
          <p:nvSpPr>
            <p:cNvPr id="203" name="Google Shape;203;p18"/>
            <p:cNvSpPr/>
            <p:nvPr/>
          </p:nvSpPr>
          <p:spPr>
            <a:xfrm>
              <a:off x="9281160" y="4343400"/>
              <a:ext cx="2148900" cy="233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B897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qr_github.png" id="204" name="Google Shape;20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64040" y="4526280"/>
              <a:ext cx="1783080" cy="1783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8"/>
            <p:cNvSpPr txBox="1"/>
            <p:nvPr/>
          </p:nvSpPr>
          <p:spPr>
            <a:xfrm>
              <a:off x="9281160" y="6355080"/>
              <a:ext cx="2148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9B7A2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Скануй → GitHub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Команда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48640" y="1051560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Студенти-інженери, що побудували Family Wallet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822950" y="1828800"/>
            <a:ext cx="2560200" cy="487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645920" y="2148840"/>
            <a:ext cx="914400" cy="914400"/>
          </a:xfrm>
          <a:prstGeom prst="ellipse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822960" y="321204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Данило Якимів</a:t>
            </a:r>
            <a:r>
              <a:rPr b="1" i="0" lang="en-US" sz="14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72835" y="3519839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Manager</a:t>
            </a:r>
            <a:endParaRPr sz="1500"/>
          </a:p>
        </p:txBody>
      </p:sp>
      <p:sp>
        <p:nvSpPr>
          <p:cNvPr id="216" name="Google Shape;216;p19"/>
          <p:cNvSpPr txBox="1"/>
          <p:nvPr/>
        </p:nvSpPr>
        <p:spPr>
          <a:xfrm>
            <a:off x="1115900" y="3892150"/>
            <a:ext cx="19743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Відповідає за планування, координацію та презентацію проєкту: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Планування етапів і задач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Координація команди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вимог (RTM, статуси)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Маркетинг і документація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Підготовка демо й презентації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611875" y="1828800"/>
            <a:ext cx="2560200" cy="487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434840" y="2148840"/>
            <a:ext cx="914400" cy="914400"/>
          </a:xfrm>
          <a:prstGeom prst="ellipse">
            <a:avLst/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3611879" y="329184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Ілля Храмцов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363273" y="3599638"/>
            <a:ext cx="110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 Engineer</a:t>
            </a:r>
            <a:endParaRPr sz="1500"/>
          </a:p>
        </p:txBody>
      </p:sp>
      <p:sp>
        <p:nvSpPr>
          <p:cNvPr id="221" name="Google Shape;221;p19"/>
          <p:cNvSpPr txBox="1"/>
          <p:nvPr/>
        </p:nvSpPr>
        <p:spPr>
          <a:xfrm>
            <a:off x="3794734" y="3955230"/>
            <a:ext cx="2194500" cy="29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Відповідає за якість та надійність продукту: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Функціональне тестування сценаріїв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Негативні тести ізоляції Secret Gift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Тестування безпеки (rate-limit, токени)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Перевірка real-time (WebSocket, reconnect)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Тестовий звіт і документація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400800" y="1828800"/>
            <a:ext cx="2560200" cy="487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7223760" y="2148840"/>
            <a:ext cx="914400" cy="914400"/>
          </a:xfrm>
          <a:prstGeom prst="ellipse">
            <a:avLst/>
          </a:prstGeom>
          <a:solidFill>
            <a:srgbClr val="C255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400800" y="329184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Володимир Заньковський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400788" y="3599662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Developer</a:t>
            </a:r>
            <a:endParaRPr sz="1500"/>
          </a:p>
        </p:txBody>
      </p:sp>
      <p:sp>
        <p:nvSpPr>
          <p:cNvPr id="226" name="Google Shape;226;p19"/>
          <p:cNvSpPr txBox="1"/>
          <p:nvPr/>
        </p:nvSpPr>
        <p:spPr>
          <a:xfrm>
            <a:off x="6583655" y="4023380"/>
            <a:ext cx="2194500" cy="27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Відповідає за серверну логіку, інтеграції та безпеку: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Автентифікація та JWT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Інтеграція з Monobank (webhook, MCC)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Транзакції та перекази (атомарні операції)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 Gift (серверна ізоляція)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WebSocket, сповіщення (FCM, SendGrid)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189725" y="1828800"/>
            <a:ext cx="2560200" cy="487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10012680" y="2148840"/>
            <a:ext cx="914400" cy="914400"/>
          </a:xfrm>
          <a:prstGeom prst="ellipse">
            <a:avLst/>
          </a:prstGeom>
          <a:solidFill>
            <a:srgbClr val="2A6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9189719" y="329184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Тетяна Шостак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189719" y="3599652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Developer</a:t>
            </a:r>
            <a:endParaRPr sz="1500"/>
          </a:p>
        </p:txBody>
      </p:sp>
      <p:sp>
        <p:nvSpPr>
          <p:cNvPr id="231" name="Google Shape;231;p19"/>
          <p:cNvSpPr txBox="1"/>
          <p:nvPr/>
        </p:nvSpPr>
        <p:spPr>
          <a:xfrm>
            <a:off x="9372575" y="3960250"/>
            <a:ext cx="2377500" cy="27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Відповідає за клієнтський застосунок та інтерфейс: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Vue 3 SPA (views, composables, services)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клієнт (WebSocket, reconnect)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Керування станом (реактивність, localStorage)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Кастомний UI/UX, адаптив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100">
                <a:solidFill>
                  <a:srgbClr val="6B68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ErrorBoundary, порожні стани</a:t>
            </a:r>
            <a:endParaRPr sz="1100">
              <a:solidFill>
                <a:srgbClr val="6B68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68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Майбутній розвиток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Roadmap (статуси «В процесі» з RTM)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48640" y="1737360"/>
            <a:ext cx="3566160" cy="548640"/>
          </a:xfrm>
          <a:prstGeom prst="roundRect">
            <a:avLst>
              <a:gd fmla="val 16667" name="adj"/>
            </a:avLst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48690" y="1827272"/>
            <a:ext cx="356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22959" y="2468880"/>
            <a:ext cx="310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Мульти-банк (ПриватБанк, Ощад)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Бюджети та ліміти видатків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Експорт звітів PDF / CSV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Refresh-токени, авто-сесії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343400" y="1737360"/>
            <a:ext cx="356616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343400" y="1737360"/>
            <a:ext cx="3566160" cy="548640"/>
          </a:xfrm>
          <a:prstGeom prst="roundRect">
            <a:avLst>
              <a:gd fmla="val 16667" name="adj"/>
            </a:avLst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343425" y="1827272"/>
            <a:ext cx="356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617720" y="2468880"/>
            <a:ext cx="310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AI-аналітика та прогноз витрат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MFA (двофакторна автентифікація)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Автентифікація WebSocket-каналу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Real-time список сповіщень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8138160" y="1737360"/>
            <a:ext cx="356616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8138160" y="1737360"/>
            <a:ext cx="3566160" cy="548640"/>
          </a:xfrm>
          <a:prstGeom prst="roundRect">
            <a:avLst>
              <a:gd fmla="val 16667" name="adj"/>
            </a:avLst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8138160" y="1737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Платформа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412480" y="2468880"/>
            <a:ext cx="310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Локалізація UA / багатомовність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Dark mode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Нативний мобільний / PWA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B2B2C white-label для банків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48615" y="6309350"/>
            <a:ext cx="110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Базова цінність уже у Free; монетизація — масштаб + необмежений Secret Gift + roadmap-фічі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