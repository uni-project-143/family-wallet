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embeddedFontLst>
    <p:embeddedFont>
      <p:font typeface="Cormorant Garamond"/>
      <p:regular r:id="rId17"/>
      <p:bold r:id="rId18"/>
      <p:italic r:id="rId19"/>
      <p:boldItalic r:id="rId20"/>
    </p:embeddedFont>
    <p:embeddedFont>
      <p:font typeface="DM Sans Medium"/>
      <p:regular r:id="rId21"/>
      <p:bold r:id="rId22"/>
      <p:italic r:id="rId23"/>
      <p:boldItalic r:id="rId24"/>
    </p:embeddedFont>
    <p:embeddedFont>
      <p:font typeface="DM Sans ExtraLight"/>
      <p:regular r:id="rId25"/>
      <p:bold r:id="rId26"/>
      <p:italic r:id="rId27"/>
      <p:boldItalic r:id="rId28"/>
    </p:embeddedFont>
    <p:embeddedFont>
      <p:font typeface="Quattrocento Sans"/>
      <p:regular r:id="rId29"/>
      <p:bold r:id="rId30"/>
      <p:italic r:id="rId31"/>
      <p:boldItalic r:id="rId32"/>
    </p:embeddedFont>
    <p:embeddedFont>
      <p:font typeface="DM Sans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ormorantGaramond-boldItalic.fntdata"/><Relationship Id="rId22" Type="http://schemas.openxmlformats.org/officeDocument/2006/relationships/font" Target="fonts/DMSansMedium-bold.fntdata"/><Relationship Id="rId21" Type="http://schemas.openxmlformats.org/officeDocument/2006/relationships/font" Target="fonts/DMSansMedium-regular.fntdata"/><Relationship Id="rId24" Type="http://schemas.openxmlformats.org/officeDocument/2006/relationships/font" Target="fonts/DMSansMedium-boldItalic.fntdata"/><Relationship Id="rId23" Type="http://schemas.openxmlformats.org/officeDocument/2006/relationships/font" Target="fonts/DMSansMedium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DMSansExtraLight-bold.fntdata"/><Relationship Id="rId25" Type="http://schemas.openxmlformats.org/officeDocument/2006/relationships/font" Target="fonts/DMSansExtraLight-regular.fntdata"/><Relationship Id="rId28" Type="http://schemas.openxmlformats.org/officeDocument/2006/relationships/font" Target="fonts/DMSansExtraLight-boldItalic.fntdata"/><Relationship Id="rId27" Type="http://schemas.openxmlformats.org/officeDocument/2006/relationships/font" Target="fonts/DMSansExtraLight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QuattrocentoSans-regular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QuattrocentoSans-italic.fntdata"/><Relationship Id="rId30" Type="http://schemas.openxmlformats.org/officeDocument/2006/relationships/font" Target="fonts/QuattrocentoSans-bold.fntdata"/><Relationship Id="rId11" Type="http://schemas.openxmlformats.org/officeDocument/2006/relationships/slide" Target="slides/slide6.xml"/><Relationship Id="rId33" Type="http://schemas.openxmlformats.org/officeDocument/2006/relationships/font" Target="fonts/DMSans-regular.fntdata"/><Relationship Id="rId10" Type="http://schemas.openxmlformats.org/officeDocument/2006/relationships/slide" Target="slides/slide5.xml"/><Relationship Id="rId32" Type="http://schemas.openxmlformats.org/officeDocument/2006/relationships/font" Target="fonts/QuattrocentoSans-boldItalic.fntdata"/><Relationship Id="rId13" Type="http://schemas.openxmlformats.org/officeDocument/2006/relationships/slide" Target="slides/slide8.xml"/><Relationship Id="rId35" Type="http://schemas.openxmlformats.org/officeDocument/2006/relationships/font" Target="fonts/DMSans-italic.fntdata"/><Relationship Id="rId12" Type="http://schemas.openxmlformats.org/officeDocument/2006/relationships/slide" Target="slides/slide7.xml"/><Relationship Id="rId34" Type="http://schemas.openxmlformats.org/officeDocument/2006/relationships/font" Target="fonts/DMSans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36" Type="http://schemas.openxmlformats.org/officeDocument/2006/relationships/font" Target="fonts/DMSans-boldItalic.fntdata"/><Relationship Id="rId17" Type="http://schemas.openxmlformats.org/officeDocument/2006/relationships/font" Target="fonts/CormorantGaramond-regular.fntdata"/><Relationship Id="rId16" Type="http://schemas.openxmlformats.org/officeDocument/2006/relationships/slide" Target="slides/slide11.xml"/><Relationship Id="rId19" Type="http://schemas.openxmlformats.org/officeDocument/2006/relationships/font" Target="fonts/CormorantGaramond-italic.fntdata"/><Relationship Id="rId18" Type="http://schemas.openxmlformats.org/officeDocument/2006/relationships/font" Target="fonts/CormorantGaramon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ee5929665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ee592966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ee7563641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ee7563641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ee7563641c_0_1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ee7563641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9.png"/><Relationship Id="rId6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gif"/><Relationship Id="rId4" Type="http://schemas.openxmlformats.org/officeDocument/2006/relationships/image" Target="../media/image5.gif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hyperlink" Target="https://family-wallet.pages.dev/" TargetMode="External"/><Relationship Id="rId5" Type="http://schemas.openxmlformats.org/officeDocument/2006/relationships/hyperlink" Target="https://family-wallet-backend-tb1v.onrender.com/" TargetMode="External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25025" y="4459650"/>
            <a:ext cx="4461325" cy="2160325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6297" y="484600"/>
            <a:ext cx="56493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6500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Family Wallet</a:t>
            </a:r>
            <a:r>
              <a:rPr b="1" lang="en-US" sz="7200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endParaRPr b="1" sz="7200">
              <a:solidFill>
                <a:srgbClr val="9B7A25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22725" y="2057375"/>
            <a:ext cx="8853600" cy="144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50">
                <a:solidFill>
                  <a:srgbClr val="40351B"/>
                </a:solidFill>
                <a:latin typeface="DM Sans"/>
                <a:ea typeface="DM Sans"/>
                <a:cs typeface="DM Sans"/>
                <a:sym typeface="DM Sans"/>
              </a:rPr>
              <a:t>Family Wallet — це веб-застосунок для спільного сімейного бюджету, який перетворює картки Monobank усіх членів родини на єдину живу стрічку витрат у реальному часі, додає соціальний шар і містить унікальну механіку Secret Gift — таємний колективний збір на подарунок.</a:t>
            </a:r>
            <a:endParaRPr sz="2400">
              <a:solidFill>
                <a:srgbClr val="40351B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548640" y="365760"/>
            <a:ext cx="11064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Команда</a:t>
            </a:r>
            <a:endParaRPr sz="36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548640" y="1051560"/>
            <a:ext cx="110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Студенти, що побудували Family Wallet</a:t>
            </a:r>
            <a:endParaRPr sz="18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3355025" y="1595225"/>
            <a:ext cx="2560200" cy="5109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4053025" y="1688750"/>
            <a:ext cx="1193100" cy="1210500"/>
          </a:xfrm>
          <a:prstGeom prst="ellipse">
            <a:avLst/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 txBox="1"/>
          <p:nvPr/>
        </p:nvSpPr>
        <p:spPr>
          <a:xfrm>
            <a:off x="3355029" y="3016403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n-US" sz="15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Ілля Храмцов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4063525" y="3332563"/>
            <a:ext cx="13977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QA Engineer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7" name="Google Shape;97;p14"/>
          <p:cNvSpPr txBox="1"/>
          <p:nvPr/>
        </p:nvSpPr>
        <p:spPr>
          <a:xfrm>
            <a:off x="3435500" y="3984050"/>
            <a:ext cx="2494200" cy="2920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Відповідає за якість та надійність продукту: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Функціональне тестування сценаріїв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Негативні тести ізоляції Secret Gift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Тестування безпеки (rate-limit, токени)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Перевірка real-time (WebSocket, reconnect)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6272438" y="1595225"/>
            <a:ext cx="2560200" cy="5109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6929200" y="1767300"/>
            <a:ext cx="1255500" cy="1210500"/>
          </a:xfrm>
          <a:prstGeom prst="ellipse">
            <a:avLst/>
          </a:prstGeom>
          <a:solidFill>
            <a:srgbClr val="C255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 txBox="1"/>
          <p:nvPr/>
        </p:nvSpPr>
        <p:spPr>
          <a:xfrm>
            <a:off x="6272438" y="3024765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n-US" sz="15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Володимир Заньковський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6272425" y="3338150"/>
            <a:ext cx="2560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Backend Developer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6338500" y="3984050"/>
            <a:ext cx="2494200" cy="23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Відповідає за серверну логіку, інтеграції та безпеку: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Автентифікація та JWT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Інтеграція з Monobank (webhook, MCC)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Secret Gift (серверна ізоляція)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WebSocket, сповіщення (FCM, SendGrid)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9189725" y="1595225"/>
            <a:ext cx="2560200" cy="5109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9189719" y="3024765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n-US" sz="15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Тетяна Шостак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9326125" y="3338150"/>
            <a:ext cx="24240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Frontend Developer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9241500" y="3984050"/>
            <a:ext cx="2494200" cy="216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Відповідає за клієнтський застосунок та інтерфейс: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Vue 3 SPA (views, composables, services)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Real-time клієнт (WebSocket, reconnect)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Керування станом (реактивність, localStorage)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7" name="Google Shape;107;p14"/>
          <p:cNvSpPr/>
          <p:nvPr/>
        </p:nvSpPr>
        <p:spPr>
          <a:xfrm>
            <a:off x="466525" y="1595225"/>
            <a:ext cx="2560200" cy="5109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8" name="Google Shape;108;p14"/>
          <p:cNvSpPr/>
          <p:nvPr/>
        </p:nvSpPr>
        <p:spPr>
          <a:xfrm>
            <a:off x="1087675" y="1721150"/>
            <a:ext cx="1255500" cy="1210500"/>
          </a:xfrm>
          <a:prstGeom prst="ellipse">
            <a:avLst/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466538" y="3016354"/>
            <a:ext cx="2560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b="1" lang="en-US" sz="15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Данило Якимів</a:t>
            </a: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516413" y="3332587"/>
            <a:ext cx="2560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Project Manager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573800" y="3984050"/>
            <a:ext cx="2424000" cy="28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Відповідає за планування, координацію та презентацію проєкту: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Планування етапів і задач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Координація команди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Контроль вимог (RTM, статуси)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-US" sz="11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Маркетинг і документація</a:t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112" name="Google Shape;112;p14"/>
          <p:cNvGrpSpPr/>
          <p:nvPr/>
        </p:nvGrpSpPr>
        <p:grpSpPr>
          <a:xfrm>
            <a:off x="9934125" y="1767300"/>
            <a:ext cx="1193100" cy="1178100"/>
            <a:chOff x="12191675" y="2052725"/>
            <a:chExt cx="1193100" cy="1178100"/>
          </a:xfrm>
        </p:grpSpPr>
        <p:sp>
          <p:nvSpPr>
            <p:cNvPr id="113" name="Google Shape;113;p14"/>
            <p:cNvSpPr/>
            <p:nvPr/>
          </p:nvSpPr>
          <p:spPr>
            <a:xfrm>
              <a:off x="12191675" y="2052725"/>
              <a:ext cx="1193100" cy="1178100"/>
            </a:xfrm>
            <a:prstGeom prst="ellipse">
              <a:avLst/>
            </a:prstGeom>
            <a:solidFill>
              <a:srgbClr val="2A6B2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4" name="Google Shape;114;p14" title="photo_2026-06-20_17-32-55 1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2277100" y="2116313"/>
              <a:ext cx="1022253" cy="1050924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15" name="Google Shape;115;p14" title="image 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99888" y="1826912"/>
            <a:ext cx="1105176" cy="1105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title="image 5 (1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65175" y="1788275"/>
            <a:ext cx="1105174" cy="10762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4" title="image 8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25900" y="1740713"/>
            <a:ext cx="1047375" cy="1106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C0A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_white_round.png" id="122" name="Google Shape;122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1850" y="320050"/>
            <a:ext cx="1591124" cy="15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543630" y="428065"/>
            <a:ext cx="10058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B8973A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Проблема</a:t>
            </a:r>
            <a:endParaRPr sz="36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640076" y="1824475"/>
            <a:ext cx="8568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Родина має спільні </a:t>
            </a:r>
            <a:r>
              <a:rPr b="1" lang="en-US" sz="21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кошти</a:t>
            </a:r>
            <a:r>
              <a:rPr b="1" i="0" lang="en-US" sz="21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— але не має спільної картини.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728368" y="2714125"/>
            <a:ext cx="10515600" cy="181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EAD9A0"/>
                </a:solidFill>
                <a:latin typeface="DM Sans ExtraLight"/>
                <a:ea typeface="DM Sans ExtraLight"/>
                <a:cs typeface="DM Sans ExtraLight"/>
                <a:sym typeface="DM Sans ExtraLight"/>
              </a:rPr>
              <a:t>Витрати розкидані по 4 картках різних людей — ніхто не бачить цілого</a:t>
            </a:r>
            <a:endParaRPr sz="1600">
              <a:latin typeface="DM Sans ExtraLight"/>
              <a:ea typeface="DM Sans ExtraLight"/>
              <a:cs typeface="DM Sans ExtraLight"/>
              <a:sym typeface="DM Sans ExtraLight"/>
            </a:endParaRPr>
          </a:p>
          <a:p>
            <a:pPr indent="0" lvl="0" marL="0" marR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EAD9A0"/>
                </a:solidFill>
                <a:latin typeface="DM Sans ExtraLight"/>
                <a:ea typeface="DM Sans ExtraLight"/>
                <a:cs typeface="DM Sans ExtraLight"/>
                <a:sym typeface="DM Sans ExtraLight"/>
              </a:rPr>
              <a:t>«Хто це купив?» і «куди пішли гроші?» — ручні підрахунки щотижня</a:t>
            </a:r>
            <a:endParaRPr sz="1600">
              <a:latin typeface="DM Sans ExtraLight"/>
              <a:ea typeface="DM Sans ExtraLight"/>
              <a:cs typeface="DM Sans ExtraLight"/>
              <a:sym typeface="DM Sans ExtraLight"/>
            </a:endParaRPr>
          </a:p>
          <a:p>
            <a:pPr indent="0" lvl="0" marL="0" marR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EAD9A0"/>
                </a:solidFill>
                <a:latin typeface="DM Sans ExtraLight"/>
                <a:ea typeface="DM Sans ExtraLight"/>
                <a:cs typeface="DM Sans ExtraLight"/>
                <a:sym typeface="DM Sans ExtraLight"/>
              </a:rPr>
              <a:t>Зібратись на подарунок таємно неможливо — сюрприз псується</a:t>
            </a:r>
            <a:endParaRPr sz="1600">
              <a:latin typeface="DM Sans ExtraLight"/>
              <a:ea typeface="DM Sans ExtraLight"/>
              <a:cs typeface="DM Sans ExtraLight"/>
              <a:sym typeface="DM Sans ExtraLight"/>
            </a:endParaRPr>
          </a:p>
          <a:p>
            <a:pPr indent="0" lvl="0" marL="0" marR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EAD9A0"/>
                </a:solidFill>
                <a:latin typeface="DM Sans ExtraLight"/>
                <a:ea typeface="DM Sans ExtraLight"/>
                <a:cs typeface="DM Sans ExtraLight"/>
                <a:sym typeface="DM Sans ExtraLight"/>
              </a:rPr>
              <a:t>Банківські «спільні банки» = один рахунок; трекери = ручні таблиці</a:t>
            </a:r>
            <a:endParaRPr sz="1600">
              <a:latin typeface="DM Sans ExtraLight"/>
              <a:ea typeface="DM Sans ExtraLight"/>
              <a:cs typeface="DM Sans ExtraLight"/>
              <a:sym typeface="DM Sans ExtraLight"/>
            </a:endParaRPr>
          </a:p>
        </p:txBody>
      </p:sp>
      <p:pic>
        <p:nvPicPr>
          <p:cNvPr id="126" name="Google Shape;126;p15" title="Gemini_Generated_Image_8sl5w68sl5w68sl5 (1)-Photoroo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973600" y="4592200"/>
            <a:ext cx="3724877" cy="2031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C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 txBox="1"/>
          <p:nvPr/>
        </p:nvSpPr>
        <p:spPr>
          <a:xfrm>
            <a:off x="548640" y="365760"/>
            <a:ext cx="110643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Рішення (MVP)</a:t>
            </a:r>
            <a:endParaRPr sz="35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32" name="Google Shape;132;p16"/>
          <p:cNvSpPr txBox="1"/>
          <p:nvPr/>
        </p:nvSpPr>
        <p:spPr>
          <a:xfrm>
            <a:off x="594315" y="1093735"/>
            <a:ext cx="110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Спільний бюджет родини наживо + таємний збір на подарунки</a:t>
            </a:r>
            <a:endParaRPr sz="18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16"/>
          <p:cNvSpPr/>
          <p:nvPr/>
        </p:nvSpPr>
        <p:spPr>
          <a:xfrm>
            <a:off x="548640" y="1737360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48640" y="1737360"/>
            <a:ext cx="146304" cy="1828800"/>
          </a:xfrm>
          <a:prstGeom prst="rect">
            <a:avLst/>
          </a:prstGeom>
          <a:solidFill>
            <a:srgbClr val="2A6B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822959" y="1920240"/>
            <a:ext cx="3200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Жива стрічка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усі картки родини в реальному часі (WebSocket)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4343400" y="1737360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4343400" y="1737360"/>
            <a:ext cx="146304" cy="1828800"/>
          </a:xfrm>
          <a:prstGeom prst="rect">
            <a:avLst/>
          </a:prstGeom>
          <a:solidFill>
            <a:srgbClr val="C255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8" name="Google Shape;138;p16"/>
          <p:cNvSpPr txBox="1"/>
          <p:nvPr/>
        </p:nvSpPr>
        <p:spPr>
          <a:xfrm>
            <a:off x="4617720" y="1920240"/>
            <a:ext cx="3200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latin typeface="DM Sans"/>
                <a:ea typeface="DM Sans"/>
                <a:cs typeface="DM Sans"/>
                <a:sym typeface="DM Sans"/>
              </a:rPr>
              <a:t>Секретний подарунок</a:t>
            </a:r>
            <a:endParaRPr b="1"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таємний збір із серверною ізоляцією від іменинника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8138160" y="1737360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8138160" y="1737360"/>
            <a:ext cx="146304" cy="1828800"/>
          </a:xfrm>
          <a:prstGeom prst="rect">
            <a:avLst/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8412480" y="1920240"/>
            <a:ext cx="3200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Перекази й запити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картка→картк</a:t>
            </a:r>
            <a:r>
              <a:rPr i="0" lang="en-US" sz="1300" u="none" cap="none" strike="noStrike">
                <a:solidFill>
                  <a:srgbClr val="6B686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а + money requests </a:t>
            </a: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усередині родини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48640" y="3840479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548640" y="3840479"/>
            <a:ext cx="146304" cy="1828800"/>
          </a:xfrm>
          <a:prstGeom prst="rect">
            <a:avLst/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4" name="Google Shape;144;p16"/>
          <p:cNvSpPr txBox="1"/>
          <p:nvPr/>
        </p:nvSpPr>
        <p:spPr>
          <a:xfrm>
            <a:off x="822959" y="4023359"/>
            <a:ext cx="3200400" cy="5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C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Emoji</a:t>
            </a:r>
            <a:r>
              <a:rPr b="1" i="0" lang="en-US" sz="16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-реакції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соціальний шар над спільними витратами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4343400" y="3840479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4343400" y="3840479"/>
            <a:ext cx="146304" cy="1828800"/>
          </a:xfrm>
          <a:prstGeom prst="rect">
            <a:avLst/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7" name="Google Shape;147;p16"/>
          <p:cNvSpPr txBox="1"/>
          <p:nvPr/>
        </p:nvSpPr>
        <p:spPr>
          <a:xfrm>
            <a:off x="4617720" y="4023359"/>
            <a:ext cx="3200400" cy="5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C0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Monobank</a:t>
            </a:r>
            <a:r>
              <a:rPr b="1" i="0" lang="en-US" sz="16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-інтеграція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webhook + авто-категоризація за MCC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8138160" y="3840479"/>
            <a:ext cx="3566160" cy="18288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8138160" y="3840479"/>
            <a:ext cx="146304" cy="18288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0" name="Google Shape;150;p16"/>
          <p:cNvSpPr txBox="1"/>
          <p:nvPr/>
        </p:nvSpPr>
        <p:spPr>
          <a:xfrm>
            <a:off x="8412480" y="4023359"/>
            <a:ext cx="3200400" cy="79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Безпека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AES-256-GCM токени, read-only, JWT, rate-limit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>
    <mc:Choice Requires="p14">
      <p:transition spd="slow" p14:dur="30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C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/>
          <p:nvPr/>
        </p:nvSpPr>
        <p:spPr>
          <a:xfrm>
            <a:off x="452165" y="313610"/>
            <a:ext cx="11064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Технологічний стек</a:t>
            </a:r>
            <a:endParaRPr sz="36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548640" y="1036260"/>
            <a:ext cx="110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Сучасний async-стек, кастомний UI без важких бібліотек</a:t>
            </a:r>
            <a:endParaRPr sz="18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548640" y="1737360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548640" y="1737360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548700" y="1819694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Frontend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17"/>
          <p:cNvSpPr txBox="1"/>
          <p:nvPr/>
        </p:nvSpPr>
        <p:spPr>
          <a:xfrm>
            <a:off x="777240" y="2286000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Vue 3 (Composition API)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Vite 6 · Vue Router 4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Axios · composables (без Pinia)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кастомний UI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4343400" y="1737360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2" name="Google Shape;162;p17"/>
          <p:cNvSpPr/>
          <p:nvPr/>
        </p:nvSpPr>
        <p:spPr>
          <a:xfrm>
            <a:off x="4343400" y="1737360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4343425" y="1819710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Backend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4" name="Google Shape;164;p17"/>
          <p:cNvSpPr txBox="1"/>
          <p:nvPr/>
        </p:nvSpPr>
        <p:spPr>
          <a:xfrm>
            <a:off x="4572000" y="2286000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FastAPI (async)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Python · Pydantic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REST + WebSocket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сервісний шар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5" name="Google Shape;165;p17"/>
          <p:cNvSpPr/>
          <p:nvPr/>
        </p:nvSpPr>
        <p:spPr>
          <a:xfrm>
            <a:off x="8138160" y="1737360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6" name="Google Shape;166;p17"/>
          <p:cNvSpPr/>
          <p:nvPr/>
        </p:nvSpPr>
        <p:spPr>
          <a:xfrm>
            <a:off x="8138160" y="1737360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7" name="Google Shape;167;p17"/>
          <p:cNvSpPr txBox="1"/>
          <p:nvPr/>
        </p:nvSpPr>
        <p:spPr>
          <a:xfrm>
            <a:off x="8138160" y="1819710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Database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17"/>
          <p:cNvSpPr txBox="1"/>
          <p:nvPr/>
        </p:nvSpPr>
        <p:spPr>
          <a:xfrm>
            <a:off x="8366760" y="2286000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MongoDB Atlas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Beanie ODM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Users · Groups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Transactions · Gifts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17"/>
          <p:cNvSpPr/>
          <p:nvPr/>
        </p:nvSpPr>
        <p:spPr>
          <a:xfrm>
            <a:off x="548640" y="4069079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17"/>
          <p:cNvSpPr/>
          <p:nvPr/>
        </p:nvSpPr>
        <p:spPr>
          <a:xfrm>
            <a:off x="548640" y="4069079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2A6B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1" name="Google Shape;171;p17"/>
          <p:cNvSpPr txBox="1"/>
          <p:nvPr/>
        </p:nvSpPr>
        <p:spPr>
          <a:xfrm>
            <a:off x="548690" y="4172279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Real-time / Integrations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777240" y="4617719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WebSocket (native)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Monobank Personal API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Firebase FCM (push)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SendGrid (email)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4343400" y="4069079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4" name="Google Shape;174;p17"/>
          <p:cNvSpPr/>
          <p:nvPr/>
        </p:nvSpPr>
        <p:spPr>
          <a:xfrm>
            <a:off x="4343400" y="4069079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C2557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5" name="Google Shape;175;p17"/>
          <p:cNvSpPr txBox="1"/>
          <p:nvPr/>
        </p:nvSpPr>
        <p:spPr>
          <a:xfrm>
            <a:off x="4343425" y="4172279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Security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17"/>
          <p:cNvSpPr txBox="1"/>
          <p:nvPr/>
        </p:nvSpPr>
        <p:spPr>
          <a:xfrm>
            <a:off x="4572000" y="4617719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JWT (HS256)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bcrypt · token blacklist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AES-256-GCM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rate-limiting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17"/>
          <p:cNvSpPr/>
          <p:nvPr/>
        </p:nvSpPr>
        <p:spPr>
          <a:xfrm>
            <a:off x="8138160" y="4069079"/>
            <a:ext cx="3566160" cy="2103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8" name="Google Shape;178;p17"/>
          <p:cNvSpPr/>
          <p:nvPr/>
        </p:nvSpPr>
        <p:spPr>
          <a:xfrm>
            <a:off x="8138160" y="4069079"/>
            <a:ext cx="3566160" cy="457200"/>
          </a:xfrm>
          <a:prstGeom prst="roundRect">
            <a:avLst>
              <a:gd fmla="val 16667" name="adj"/>
            </a:avLst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9" name="Google Shape;179;p17"/>
          <p:cNvSpPr txBox="1"/>
          <p:nvPr/>
        </p:nvSpPr>
        <p:spPr>
          <a:xfrm>
            <a:off x="8138160" y="4172279"/>
            <a:ext cx="35661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DevOps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0" name="Google Shape;180;p17"/>
          <p:cNvSpPr txBox="1"/>
          <p:nvPr/>
        </p:nvSpPr>
        <p:spPr>
          <a:xfrm>
            <a:off x="8366760" y="4617719"/>
            <a:ext cx="3200400" cy="100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Docker Compose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GitHub Actions CI/CD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Vite build · code-split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• тестове покриття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mc:AlternateContent>
    <mc:Choice Requires="p14">
      <p:transition spd="slow" p14:dur="2000">
        <p:fade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8"/>
          <p:cNvSpPr txBox="1"/>
          <p:nvPr/>
        </p:nvSpPr>
        <p:spPr>
          <a:xfrm>
            <a:off x="444678" y="353010"/>
            <a:ext cx="11064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Архітектура: FE ↔ BE ↔ DB</a:t>
            </a:r>
            <a:endParaRPr sz="36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186" name="Google Shape;186;p18"/>
          <p:cNvSpPr txBox="1"/>
          <p:nvPr/>
        </p:nvSpPr>
        <p:spPr>
          <a:xfrm>
            <a:off x="548640" y="1051560"/>
            <a:ext cx="11064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B686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Взаємодія шарів і зовнішніх сервісів</a:t>
            </a:r>
            <a:endParaRPr sz="1800"/>
          </a:p>
        </p:txBody>
      </p:sp>
      <p:sp>
        <p:nvSpPr>
          <p:cNvPr id="187" name="Google Shape;187;p18"/>
          <p:cNvSpPr/>
          <p:nvPr/>
        </p:nvSpPr>
        <p:spPr>
          <a:xfrm>
            <a:off x="320090" y="1920253"/>
            <a:ext cx="31089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B897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8" name="Google Shape;188;p18"/>
          <p:cNvSpPr txBox="1"/>
          <p:nvPr/>
        </p:nvSpPr>
        <p:spPr>
          <a:xfrm>
            <a:off x="261815" y="2011680"/>
            <a:ext cx="310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FRONTEND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9" name="Google Shape;189;p18"/>
          <p:cNvSpPr txBox="1"/>
          <p:nvPr/>
        </p:nvSpPr>
        <p:spPr>
          <a:xfrm>
            <a:off x="444665" y="2520975"/>
            <a:ext cx="27432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Vue 3 SPA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views → composables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services (Axios)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useWebSocket (reconnect)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4572000" y="1920240"/>
            <a:ext cx="31089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B897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1" name="Google Shape;191;p18"/>
          <p:cNvSpPr txBox="1"/>
          <p:nvPr/>
        </p:nvSpPr>
        <p:spPr>
          <a:xfrm>
            <a:off x="4572000" y="2011680"/>
            <a:ext cx="3108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BACKEND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2" name="Google Shape;192;p18"/>
          <p:cNvSpPr txBox="1"/>
          <p:nvPr/>
        </p:nvSpPr>
        <p:spPr>
          <a:xfrm>
            <a:off x="4732113" y="2514600"/>
            <a:ext cx="27432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FastAPI (async)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REST API + routers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ConnectionManager (WS)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services · security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3" name="Google Shape;193;p18"/>
          <p:cNvSpPr/>
          <p:nvPr/>
        </p:nvSpPr>
        <p:spPr>
          <a:xfrm>
            <a:off x="8823910" y="1925428"/>
            <a:ext cx="3017400" cy="23775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25400">
            <a:solidFill>
              <a:srgbClr val="B897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18"/>
          <p:cNvSpPr txBox="1"/>
          <p:nvPr/>
        </p:nvSpPr>
        <p:spPr>
          <a:xfrm>
            <a:off x="8823910" y="2011680"/>
            <a:ext cx="3017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DATABASE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5" name="Google Shape;195;p18"/>
          <p:cNvSpPr txBox="1"/>
          <p:nvPr/>
        </p:nvSpPr>
        <p:spPr>
          <a:xfrm>
            <a:off x="8938335" y="2514600"/>
            <a:ext cx="2651700" cy="107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MongoDB Atlas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Beanie ODM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sessions (atomic)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Users·Groups·Txns·Gifts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6" name="Google Shape;196;p18"/>
          <p:cNvSpPr/>
          <p:nvPr/>
        </p:nvSpPr>
        <p:spPr>
          <a:xfrm>
            <a:off x="3520451" y="2834625"/>
            <a:ext cx="960300" cy="5487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7" name="Google Shape;197;p18"/>
          <p:cNvSpPr txBox="1"/>
          <p:nvPr/>
        </p:nvSpPr>
        <p:spPr>
          <a:xfrm>
            <a:off x="3314825" y="2361648"/>
            <a:ext cx="13716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REST + </a:t>
            </a:r>
            <a:endParaRPr b="1" i="0" sz="1200" u="none" cap="none" strike="noStrike">
              <a:solidFill>
                <a:srgbClr val="6B686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WebSocket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8" name="Google Shape;198;p18"/>
          <p:cNvSpPr/>
          <p:nvPr/>
        </p:nvSpPr>
        <p:spPr>
          <a:xfrm>
            <a:off x="7772250" y="2839850"/>
            <a:ext cx="960300" cy="548700"/>
          </a:xfrm>
          <a:prstGeom prst="leftRightArrow">
            <a:avLst>
              <a:gd fmla="val 50000" name="adj1"/>
              <a:gd fmla="val 50000" name="adj2"/>
            </a:avLst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9" name="Google Shape;199;p18"/>
          <p:cNvSpPr txBox="1"/>
          <p:nvPr/>
        </p:nvSpPr>
        <p:spPr>
          <a:xfrm>
            <a:off x="7521034" y="2446260"/>
            <a:ext cx="1371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Beanie ODM</a:t>
            </a:r>
            <a:endParaRPr sz="1700"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00" name="Google Shape;200;p18"/>
          <p:cNvGrpSpPr/>
          <p:nvPr/>
        </p:nvGrpSpPr>
        <p:grpSpPr>
          <a:xfrm>
            <a:off x="2621075" y="4807515"/>
            <a:ext cx="6980077" cy="1574170"/>
            <a:chOff x="4541363" y="4277990"/>
            <a:chExt cx="6980077" cy="1574170"/>
          </a:xfrm>
        </p:grpSpPr>
        <p:sp>
          <p:nvSpPr>
            <p:cNvPr id="201" name="Google Shape;201;p18"/>
            <p:cNvSpPr/>
            <p:nvPr/>
          </p:nvSpPr>
          <p:spPr>
            <a:xfrm>
              <a:off x="4572000" y="5029200"/>
              <a:ext cx="2194500" cy="822900"/>
            </a:xfrm>
            <a:prstGeom prst="roundRect">
              <a:avLst>
                <a:gd fmla="val 16667" name="adj"/>
              </a:avLst>
            </a:prstGeom>
            <a:solidFill>
              <a:srgbClr val="0D0C0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8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2" name="Google Shape;202;p18"/>
            <p:cNvSpPr txBox="1"/>
            <p:nvPr/>
          </p:nvSpPr>
          <p:spPr>
            <a:xfrm>
              <a:off x="4572063" y="5226479"/>
              <a:ext cx="2194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00" u="none" cap="none" strike="noStrike">
                  <a:solidFill>
                    <a:srgbClr val="EAD9A0"/>
                  </a:solidFill>
                  <a:latin typeface="DM Sans"/>
                  <a:ea typeface="DM Sans"/>
                  <a:cs typeface="DM Sans"/>
                  <a:sym typeface="DM Sans"/>
                </a:rPr>
                <a:t>Monobank API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ctr">
                <a:spcBef>
                  <a:spcPts val="100"/>
                </a:spcBef>
                <a:spcAft>
                  <a:spcPts val="0"/>
                </a:spcAft>
                <a:buNone/>
              </a:pPr>
              <a:r>
                <a:rPr i="0" lang="en-US" sz="1200" u="none" cap="none" strike="noStrike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webhook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3" name="Google Shape;203;p18"/>
            <p:cNvSpPr/>
            <p:nvPr/>
          </p:nvSpPr>
          <p:spPr>
            <a:xfrm>
              <a:off x="6949440" y="5029200"/>
              <a:ext cx="2194560" cy="822960"/>
            </a:xfrm>
            <a:prstGeom prst="roundRect">
              <a:avLst>
                <a:gd fmla="val 16667" name="adj"/>
              </a:avLst>
            </a:prstGeom>
            <a:solidFill>
              <a:srgbClr val="0D0C0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8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4" name="Google Shape;204;p18"/>
            <p:cNvSpPr txBox="1"/>
            <p:nvPr/>
          </p:nvSpPr>
          <p:spPr>
            <a:xfrm>
              <a:off x="6949477" y="5226470"/>
              <a:ext cx="2194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00" u="none" cap="none" strike="noStrike">
                  <a:solidFill>
                    <a:srgbClr val="EAD9A0"/>
                  </a:solidFill>
                  <a:latin typeface="DM Sans"/>
                  <a:ea typeface="DM Sans"/>
                  <a:cs typeface="DM Sans"/>
                  <a:sym typeface="DM Sans"/>
                </a:rPr>
                <a:t>Firebase FCM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ctr">
                <a:spcBef>
                  <a:spcPts val="100"/>
                </a:spcBef>
                <a:spcAft>
                  <a:spcPts val="0"/>
                </a:spcAft>
                <a:buNone/>
              </a:pPr>
              <a:r>
                <a:rPr i="0" lang="en-US" sz="1200" u="none" cap="none" strike="noStrike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push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5" name="Google Shape;205;p18"/>
            <p:cNvSpPr/>
            <p:nvPr/>
          </p:nvSpPr>
          <p:spPr>
            <a:xfrm>
              <a:off x="9326880" y="5029200"/>
              <a:ext cx="2194560" cy="822960"/>
            </a:xfrm>
            <a:prstGeom prst="roundRect">
              <a:avLst>
                <a:gd fmla="val 16667" name="adj"/>
              </a:avLst>
            </a:prstGeom>
            <a:solidFill>
              <a:srgbClr val="0D0C0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8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6" name="Google Shape;206;p18"/>
            <p:cNvSpPr txBox="1"/>
            <p:nvPr/>
          </p:nvSpPr>
          <p:spPr>
            <a:xfrm>
              <a:off x="9326880" y="5226470"/>
              <a:ext cx="2194500" cy="489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300" u="none" cap="none" strike="noStrike">
                  <a:solidFill>
                    <a:srgbClr val="EAD9A0"/>
                  </a:solidFill>
                  <a:latin typeface="DM Sans"/>
                  <a:ea typeface="DM Sans"/>
                  <a:cs typeface="DM Sans"/>
                  <a:sym typeface="DM Sans"/>
                </a:rPr>
                <a:t>SendGrid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ctr">
                <a:spcBef>
                  <a:spcPts val="100"/>
                </a:spcBef>
                <a:spcAft>
                  <a:spcPts val="0"/>
                </a:spcAft>
                <a:buNone/>
              </a:pPr>
              <a:r>
                <a:rPr i="0" lang="en-US" sz="1200" u="none" cap="none" strike="noStrike">
                  <a:solidFill>
                    <a:srgbClr val="FFFFFF"/>
                  </a:solidFill>
                  <a:latin typeface="DM Sans"/>
                  <a:ea typeface="DM Sans"/>
                  <a:cs typeface="DM Sans"/>
                  <a:sym typeface="DM Sans"/>
                </a:rPr>
                <a:t>email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07" name="Google Shape;207;p18"/>
            <p:cNvSpPr txBox="1"/>
            <p:nvPr/>
          </p:nvSpPr>
          <p:spPr>
            <a:xfrm>
              <a:off x="4541363" y="4277990"/>
              <a:ext cx="69495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2300" u="none" cap="none" strike="noStrike">
                  <a:solidFill>
                    <a:srgbClr val="6B6860"/>
                  </a:solidFill>
                  <a:latin typeface="DM Sans"/>
                  <a:ea typeface="DM Sans"/>
                  <a:cs typeface="DM Sans"/>
                  <a:sym typeface="DM Sans"/>
                </a:rPr>
                <a:t>↑ </a:t>
              </a:r>
              <a:r>
                <a:rPr b="1" i="0" lang="en-US" sz="1800" u="none" cap="none" strike="noStrike">
                  <a:solidFill>
                    <a:srgbClr val="6B6860"/>
                  </a:solidFill>
                  <a:latin typeface="DM Sans"/>
                  <a:ea typeface="DM Sans"/>
                  <a:cs typeface="DM Sans"/>
                  <a:sym typeface="DM Sans"/>
                </a:rPr>
                <a:t>зовнішні інтеграції бекенду</a:t>
              </a:r>
              <a:endParaRPr sz="21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6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22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9"/>
          <p:cNvSpPr txBox="1"/>
          <p:nvPr/>
        </p:nvSpPr>
        <p:spPr>
          <a:xfrm>
            <a:off x="548603" y="342810"/>
            <a:ext cx="110643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500" u="none" cap="none" strike="noStrike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Інженерні виклики, які подолали</a:t>
            </a:r>
            <a:endParaRPr sz="2100"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548640" y="1200825"/>
            <a:ext cx="1106430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9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4" name="Google Shape;214;p19"/>
          <p:cNvSpPr/>
          <p:nvPr/>
        </p:nvSpPr>
        <p:spPr>
          <a:xfrm>
            <a:off x="548600" y="1200925"/>
            <a:ext cx="146400" cy="914400"/>
          </a:xfrm>
          <a:prstGeom prst="rect">
            <a:avLst/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9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5" name="Google Shape;215;p19"/>
          <p:cNvSpPr txBox="1"/>
          <p:nvPr/>
        </p:nvSpPr>
        <p:spPr>
          <a:xfrm>
            <a:off x="868680" y="1340790"/>
            <a:ext cx="10515600" cy="5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Серверна ізоляція Secret Gift</a:t>
            </a:r>
            <a:endParaRPr sz="15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Сховати збір від іменинника на фронті — наївно. Винесли на сервер: $nor-фільтр стрічки + статус-керована видимість, стійка до таймзон.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16" name="Google Shape;216;p19"/>
          <p:cNvGrpSpPr/>
          <p:nvPr/>
        </p:nvGrpSpPr>
        <p:grpSpPr>
          <a:xfrm>
            <a:off x="548640" y="2264683"/>
            <a:ext cx="11064240" cy="914400"/>
            <a:chOff x="548640" y="2350008"/>
            <a:chExt cx="11064240" cy="914400"/>
          </a:xfrm>
        </p:grpSpPr>
        <p:sp>
          <p:nvSpPr>
            <p:cNvPr id="217" name="Google Shape;217;p19"/>
            <p:cNvSpPr/>
            <p:nvPr/>
          </p:nvSpPr>
          <p:spPr>
            <a:xfrm>
              <a:off x="548640" y="2350008"/>
              <a:ext cx="11064240" cy="9144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D6D3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8" name="Google Shape;218;p19"/>
            <p:cNvSpPr/>
            <p:nvPr/>
          </p:nvSpPr>
          <p:spPr>
            <a:xfrm>
              <a:off x="548640" y="2350008"/>
              <a:ext cx="146304" cy="914400"/>
            </a:xfrm>
            <a:prstGeom prst="rect">
              <a:avLst/>
            </a:prstGeom>
            <a:solidFill>
              <a:srgbClr val="B8973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868680" y="2489860"/>
              <a:ext cx="10515600" cy="55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cap="none" strike="noStrike">
                  <a:solidFill>
                    <a:srgbClr val="9B7A25"/>
                  </a:solidFill>
                  <a:latin typeface="DM Sans"/>
                  <a:ea typeface="DM Sans"/>
                  <a:cs typeface="DM Sans"/>
                  <a:sym typeface="DM Sans"/>
                </a:rPr>
                <a:t>Атомарність парних транзакцій</a:t>
              </a:r>
              <a:endParaRPr sz="15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i="0" lang="en-US" sz="1350" u="none" cap="none" strike="noStrike">
                  <a:solidFill>
                    <a:srgbClr val="0D0C0A"/>
                  </a:solidFill>
                  <a:latin typeface="DM Sans"/>
                  <a:ea typeface="DM Sans"/>
                  <a:cs typeface="DM Sans"/>
                  <a:sym typeface="DM Sans"/>
                </a:rPr>
                <a:t>Переказ і прийом запиту = списання+зарахування. MongoDB sessions гарантують rollback — баланси ніколи не «розсинхронізуються».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sp>
        <p:nvSpPr>
          <p:cNvPr id="220" name="Google Shape;220;p19"/>
          <p:cNvSpPr/>
          <p:nvPr/>
        </p:nvSpPr>
        <p:spPr>
          <a:xfrm>
            <a:off x="548640" y="3328416"/>
            <a:ext cx="11064240" cy="9144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9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1" name="Google Shape;221;p19"/>
          <p:cNvSpPr/>
          <p:nvPr/>
        </p:nvSpPr>
        <p:spPr>
          <a:xfrm>
            <a:off x="548640" y="3328416"/>
            <a:ext cx="146304" cy="914400"/>
          </a:xfrm>
          <a:prstGeom prst="rect">
            <a:avLst/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9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868680" y="3515018"/>
            <a:ext cx="10515600" cy="54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Monobank rate-limit 1 запит / 60 с</a:t>
            </a:r>
            <a:endParaRPr>
              <a:latin typeface="DM Sans"/>
              <a:ea typeface="DM Sans"/>
              <a:cs typeface="DM Sans"/>
              <a:sym typeface="DM Sans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0" lang="en-US" sz="1350" u="none" cap="none" strike="noStrike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Синхронізацію збудували навколо webhook + дедуплікації за mono_id, а не наївного polling, який упирався б у ліміт.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23" name="Google Shape;223;p19"/>
          <p:cNvGrpSpPr/>
          <p:nvPr/>
        </p:nvGrpSpPr>
        <p:grpSpPr>
          <a:xfrm>
            <a:off x="548640" y="4392174"/>
            <a:ext cx="11064240" cy="914400"/>
            <a:chOff x="548640" y="4306824"/>
            <a:chExt cx="11064240" cy="914400"/>
          </a:xfrm>
        </p:grpSpPr>
        <p:sp>
          <p:nvSpPr>
            <p:cNvPr id="224" name="Google Shape;224;p19"/>
            <p:cNvSpPr/>
            <p:nvPr/>
          </p:nvSpPr>
          <p:spPr>
            <a:xfrm>
              <a:off x="548640" y="4306824"/>
              <a:ext cx="11064240" cy="9144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D6D3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25" name="Google Shape;225;p19"/>
            <p:cNvSpPr/>
            <p:nvPr/>
          </p:nvSpPr>
          <p:spPr>
            <a:xfrm>
              <a:off x="548640" y="4306824"/>
              <a:ext cx="146304" cy="914400"/>
            </a:xfrm>
            <a:prstGeom prst="rect">
              <a:avLst/>
            </a:prstGeom>
            <a:solidFill>
              <a:srgbClr val="B8973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26" name="Google Shape;226;p19"/>
            <p:cNvSpPr txBox="1"/>
            <p:nvPr/>
          </p:nvSpPr>
          <p:spPr>
            <a:xfrm>
              <a:off x="868675" y="4485625"/>
              <a:ext cx="10670700" cy="55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cap="none" strike="noStrike">
                  <a:solidFill>
                    <a:srgbClr val="9B7A25"/>
                  </a:solidFill>
                  <a:latin typeface="DM Sans"/>
                  <a:ea typeface="DM Sans"/>
                  <a:cs typeface="DM Sans"/>
                  <a:sym typeface="DM Sans"/>
                </a:rPr>
                <a:t>Real-time без втрат</a:t>
              </a:r>
              <a:endParaRPr sz="15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i="0" lang="en-US" sz="1350" u="none" cap="none" strike="noStrike">
                  <a:solidFill>
                    <a:srgbClr val="0D0C0A"/>
                  </a:solidFill>
                  <a:latin typeface="DM Sans"/>
                  <a:ea typeface="DM Sans"/>
                  <a:cs typeface="DM Sans"/>
                  <a:sym typeface="DM Sans"/>
                </a:rPr>
                <a:t>WebSocket з auto-reconnect (exponential backoff) і heartbeat ping/pong кожні 30с — стрічка оновлюється навіть після обриву мережі.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  <p:grpSp>
        <p:nvGrpSpPr>
          <p:cNvPr id="227" name="Google Shape;227;p19"/>
          <p:cNvGrpSpPr/>
          <p:nvPr/>
        </p:nvGrpSpPr>
        <p:grpSpPr>
          <a:xfrm>
            <a:off x="563715" y="5455932"/>
            <a:ext cx="11064240" cy="914400"/>
            <a:chOff x="548640" y="5285232"/>
            <a:chExt cx="11064240" cy="914400"/>
          </a:xfrm>
        </p:grpSpPr>
        <p:sp>
          <p:nvSpPr>
            <p:cNvPr id="228" name="Google Shape;228;p19"/>
            <p:cNvSpPr/>
            <p:nvPr/>
          </p:nvSpPr>
          <p:spPr>
            <a:xfrm>
              <a:off x="548640" y="5285232"/>
              <a:ext cx="11064240" cy="9144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2700">
              <a:solidFill>
                <a:srgbClr val="D6D3CE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29" name="Google Shape;229;p19"/>
            <p:cNvSpPr/>
            <p:nvPr/>
          </p:nvSpPr>
          <p:spPr>
            <a:xfrm>
              <a:off x="548640" y="5285232"/>
              <a:ext cx="146304" cy="914400"/>
            </a:xfrm>
            <a:prstGeom prst="rect">
              <a:avLst/>
            </a:prstGeom>
            <a:solidFill>
              <a:srgbClr val="B8973A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i="0" sz="19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endParaRPr>
            </a:p>
          </p:txBody>
        </p:sp>
        <p:sp>
          <p:nvSpPr>
            <p:cNvPr id="230" name="Google Shape;230;p19"/>
            <p:cNvSpPr txBox="1"/>
            <p:nvPr/>
          </p:nvSpPr>
          <p:spPr>
            <a:xfrm>
              <a:off x="853605" y="5471834"/>
              <a:ext cx="10515600" cy="556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500" u="none" cap="none" strike="noStrike">
                  <a:solidFill>
                    <a:srgbClr val="9B7A25"/>
                  </a:solidFill>
                  <a:latin typeface="DM Sans"/>
                  <a:ea typeface="DM Sans"/>
                  <a:cs typeface="DM Sans"/>
                  <a:sym typeface="DM Sans"/>
                </a:rPr>
                <a:t>Безпека банківського рівня</a:t>
              </a:r>
              <a:endParaRPr sz="1500">
                <a:latin typeface="DM Sans"/>
                <a:ea typeface="DM Sans"/>
                <a:cs typeface="DM Sans"/>
                <a:sym typeface="DM Sans"/>
              </a:endParaRPr>
            </a:p>
            <a:p>
              <a:pPr indent="0" lvl="0" marL="0" marR="0" rtl="0" algn="l">
                <a:spcBef>
                  <a:spcPts val="200"/>
                </a:spcBef>
                <a:spcAft>
                  <a:spcPts val="0"/>
                </a:spcAft>
                <a:buNone/>
              </a:pPr>
              <a:r>
                <a:rPr i="0" lang="en-US" sz="1350" u="none" cap="none" strike="noStrike">
                  <a:solidFill>
                    <a:srgbClr val="0D0C0A"/>
                  </a:solidFill>
                  <a:latin typeface="DM Sans"/>
                  <a:ea typeface="DM Sans"/>
                  <a:cs typeface="DM Sans"/>
                  <a:sym typeface="DM Sans"/>
                </a:rPr>
                <a:t>AES-256-GCM шифрування токена (унікальний nonce), read-only доступ, bcrypt, token blacklist з TTL, rate-limit на login/transfer.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0"/>
          <p:cNvSpPr txBox="1"/>
          <p:nvPr/>
        </p:nvSpPr>
        <p:spPr>
          <a:xfrm>
            <a:off x="568200" y="388750"/>
            <a:ext cx="9788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П</a:t>
            </a:r>
            <a:r>
              <a:rPr b="1" lang="en-US" sz="3200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еремикаємося зі слайдів на ЖИВИЙ застосунок</a:t>
            </a:r>
            <a:endParaRPr b="1" sz="3200">
              <a:solidFill>
                <a:srgbClr val="9B7A25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pic>
        <p:nvPicPr>
          <p:cNvPr id="236" name="Google Shape;236;p20" title="01-register.gif"/>
          <p:cNvPicPr preferRelativeResize="0"/>
          <p:nvPr/>
        </p:nvPicPr>
        <p:blipFill rotWithShape="1">
          <a:blip r:embed="rId3">
            <a:alphaModFix/>
          </a:blip>
          <a:srcRect b="0" l="13270" r="17474" t="0"/>
          <a:stretch/>
        </p:blipFill>
        <p:spPr>
          <a:xfrm>
            <a:off x="159500" y="1482887"/>
            <a:ext cx="4003800" cy="5032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title="04-connect-card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0" y="2192975"/>
            <a:ext cx="6907773" cy="361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BF7EC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1"/>
          <p:cNvSpPr txBox="1"/>
          <p:nvPr/>
        </p:nvSpPr>
        <p:spPr>
          <a:xfrm>
            <a:off x="470275" y="258925"/>
            <a:ext cx="97887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9B7A25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Перемикаємося зі застосунку на ТЕРМІНАЛ pytest</a:t>
            </a:r>
            <a:endParaRPr b="1" sz="3200">
              <a:solidFill>
                <a:srgbClr val="9B7A25"/>
              </a:solidFill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pic>
        <p:nvPicPr>
          <p:cNvPr id="243" name="Google Shape;243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6150" y="2506975"/>
            <a:ext cx="7428976" cy="3993051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 txBox="1"/>
          <p:nvPr/>
        </p:nvSpPr>
        <p:spPr>
          <a:xfrm>
            <a:off x="384525" y="1091638"/>
            <a:ext cx="9441600" cy="149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latin typeface="DM Sans"/>
                <a:ea typeface="DM Sans"/>
                <a:cs typeface="DM Sans"/>
                <a:sym typeface="DM Sans"/>
              </a:rPr>
              <a:t>Якість — не випадковість. </a:t>
            </a:r>
            <a:endParaRPr sz="1700"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latin typeface="DM Sans"/>
                <a:ea typeface="DM Sans"/>
                <a:cs typeface="DM Sans"/>
                <a:sym typeface="DM Sans"/>
              </a:rPr>
              <a:t>У проєкті </a:t>
            </a:r>
            <a:r>
              <a:rPr lang="en-US" sz="1700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89</a:t>
            </a:r>
            <a:r>
              <a:rPr lang="en-US" sz="1700">
                <a:latin typeface="DM Sans"/>
                <a:ea typeface="DM Sans"/>
                <a:cs typeface="DM Sans"/>
                <a:sym typeface="DM Sans"/>
              </a:rPr>
              <a:t> автоматизованих тестів у </a:t>
            </a:r>
            <a:r>
              <a:rPr lang="en-US" sz="1700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14</a:t>
            </a:r>
            <a:r>
              <a:rPr lang="en-US" sz="1700">
                <a:latin typeface="DM Sans"/>
                <a:ea typeface="DM Sans"/>
                <a:cs typeface="DM Sans"/>
                <a:sym typeface="DM Sans"/>
              </a:rPr>
              <a:t> файлах на pytest: інтеграційні — для всіх API-ендпоінтів (авторизація, групи, транзакції, перекази, Monobank-вебхук, прихованість подарунків у стрічці), та юніт-тести — для бізнес-логіки: генерація JWT, категоризація MCC, сервіс груп.</a:t>
            </a:r>
            <a:endParaRPr sz="170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2"/>
          <p:cNvSpPr txBox="1"/>
          <p:nvPr/>
        </p:nvSpPr>
        <p:spPr>
          <a:xfrm>
            <a:off x="548640" y="365760"/>
            <a:ext cx="110643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Майбутній розвиток</a:t>
            </a:r>
            <a:endParaRPr sz="19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0" name="Google Shape;250;p22"/>
          <p:cNvSpPr txBox="1"/>
          <p:nvPr/>
        </p:nvSpPr>
        <p:spPr>
          <a:xfrm>
            <a:off x="548640" y="1051560"/>
            <a:ext cx="110643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6B6860"/>
                </a:solidFill>
                <a:latin typeface="DM Sans"/>
                <a:ea typeface="DM Sans"/>
                <a:cs typeface="DM Sans"/>
                <a:sym typeface="DM Sans"/>
              </a:rPr>
              <a:t>Від стабілізації монолітного MVP до сервіс-орієнтованої хмарної архітектури.</a:t>
            </a:r>
            <a:endParaRPr sz="17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1" name="Google Shape;251;p22"/>
          <p:cNvSpPr/>
          <p:nvPr/>
        </p:nvSpPr>
        <p:spPr>
          <a:xfrm>
            <a:off x="548690" y="1737397"/>
            <a:ext cx="3566100" cy="40233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548640" y="1737360"/>
            <a:ext cx="3566100" cy="548700"/>
          </a:xfrm>
          <a:prstGeom prst="roundRect">
            <a:avLst>
              <a:gd fmla="val 16667" name="adj"/>
            </a:avLst>
          </a:prstGeom>
          <a:solidFill>
            <a:srgbClr val="B897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548690" y="1850160"/>
            <a:ext cx="3566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0–3 міс — Стабілізація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22"/>
          <p:cNvSpPr txBox="1"/>
          <p:nvPr/>
        </p:nvSpPr>
        <p:spPr>
          <a:xfrm>
            <a:off x="592950" y="2538625"/>
            <a:ext cx="3469200" cy="20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CI/CD pipeline (GitHub Actions: lint → тести → build)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Індекси MongoDB (compound, пагінація, агрегації)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Structured logging + correlation-id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Secret Manager (розділення dev / staging / prod)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5" name="Google Shape;255;p22"/>
          <p:cNvSpPr/>
          <p:nvPr/>
        </p:nvSpPr>
        <p:spPr>
          <a:xfrm>
            <a:off x="4343400" y="1737360"/>
            <a:ext cx="3566160" cy="4023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4343400" y="1737360"/>
            <a:ext cx="3566160" cy="548640"/>
          </a:xfrm>
          <a:prstGeom prst="roundRect">
            <a:avLst>
              <a:gd fmla="val 16667" name="adj"/>
            </a:avLst>
          </a:prstGeom>
          <a:solidFill>
            <a:srgbClr val="9B7A2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4343425" y="1850147"/>
            <a:ext cx="3566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3–9 міс — Масштабованість</a:t>
            </a:r>
            <a:endParaRPr sz="18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8" name="Google Shape;258;p22"/>
          <p:cNvSpPr txBox="1"/>
          <p:nvPr/>
        </p:nvSpPr>
        <p:spPr>
          <a:xfrm>
            <a:off x="4392225" y="2538625"/>
            <a:ext cx="3566100" cy="23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Redis: кеш звітів/балансів + спільний rate-limit → stateless-інстанси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Черга задач (Celery / ARQ): email, push, звіти у фон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WebSockets через Redis Pub/Sub (замість поллінгу)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Observability: Prometheus + Grafana + OpenTelemetry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9" name="Google Shape;259;p22"/>
          <p:cNvSpPr/>
          <p:nvPr/>
        </p:nvSpPr>
        <p:spPr>
          <a:xfrm>
            <a:off x="8138160" y="1737360"/>
            <a:ext cx="3566160" cy="40233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5225">
            <a:solidFill>
              <a:srgbClr val="D6D3C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0" name="Google Shape;260;p22"/>
          <p:cNvSpPr/>
          <p:nvPr/>
        </p:nvSpPr>
        <p:spPr>
          <a:xfrm>
            <a:off x="8138160" y="1737360"/>
            <a:ext cx="3566160" cy="548640"/>
          </a:xfrm>
          <a:prstGeom prst="roundRect">
            <a:avLst>
              <a:gd fmla="val 16667" name="adj"/>
            </a:avLst>
          </a:prstGeom>
          <a:solidFill>
            <a:srgbClr val="0D0C0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1" name="Google Shape;261;p22"/>
          <p:cNvSpPr txBox="1"/>
          <p:nvPr/>
        </p:nvSpPr>
        <p:spPr>
          <a:xfrm>
            <a:off x="8138160" y="1850135"/>
            <a:ext cx="35661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9–18 міс — Еволюція архітектури</a:t>
            </a:r>
            <a:endParaRPr sz="15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2" name="Google Shape;262;p22"/>
          <p:cNvSpPr txBox="1"/>
          <p:nvPr/>
        </p:nvSpPr>
        <p:spPr>
          <a:xfrm>
            <a:off x="8190800" y="2538625"/>
            <a:ext cx="3469200" cy="280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30200" lvl="0" marL="457200" rtl="0" algn="l">
              <a:spcBef>
                <a:spcPts val="100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Моноліт → межі сервісів (виділення Notifications-сервісу)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Kubernetes + HPA, Ingress, namespaces staging/prod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Managed cloud: K8s + MongoDB Atlas + Cloudflare CDN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30200" lvl="0" marL="457200" marR="0" rtl="0" algn="l">
              <a:spcBef>
                <a:spcPts val="0"/>
              </a:spcBef>
              <a:spcAft>
                <a:spcPts val="0"/>
              </a:spcAft>
              <a:buClr>
                <a:srgbClr val="0D0C0A"/>
              </a:buClr>
              <a:buSzPts val="1600"/>
              <a:buFont typeface="DM Sans"/>
              <a:buAutoNum type="arabicPeriod"/>
            </a:pPr>
            <a:r>
              <a:rPr lang="en-US" sz="1600">
                <a:solidFill>
                  <a:srgbClr val="0D0C0A"/>
                </a:solidFill>
                <a:latin typeface="DM Sans"/>
                <a:ea typeface="DM Sans"/>
                <a:cs typeface="DM Sans"/>
                <a:sym typeface="DM Sans"/>
              </a:rPr>
              <a:t>Аналітика / пошук: окреме сховище звітності (ElasticSearch)</a:t>
            </a:r>
            <a:endParaRPr sz="1600">
              <a:solidFill>
                <a:srgbClr val="0D0C0A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0C0A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logo_white_round.png" id="267" name="Google Shape;26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20275" y="320050"/>
            <a:ext cx="1366925" cy="13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3"/>
          <p:cNvSpPr txBox="1"/>
          <p:nvPr/>
        </p:nvSpPr>
        <p:spPr>
          <a:xfrm>
            <a:off x="640080" y="548640"/>
            <a:ext cx="96012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B8973A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Демонстрація</a:t>
            </a:r>
            <a:endParaRPr>
              <a:latin typeface="Cormorant Garamond"/>
              <a:ea typeface="Cormorant Garamond"/>
              <a:cs typeface="Cormorant Garamond"/>
              <a:sym typeface="Cormorant Garamond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640080" y="1554480"/>
            <a:ext cx="10058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0" lang="en-US" sz="1800" u="none" cap="none" strike="noStrike">
                <a:solidFill>
                  <a:srgbClr val="EAD9A0"/>
                </a:solidFill>
                <a:latin typeface="DM Sans"/>
                <a:ea typeface="DM Sans"/>
                <a:cs typeface="DM Sans"/>
                <a:sym typeface="DM Sans"/>
              </a:rPr>
              <a:t>Спробуйте продукт у дії — посилання нижче</a:t>
            </a:r>
            <a:endParaRPr sz="16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0" name="Google Shape;270;p23"/>
          <p:cNvSpPr/>
          <p:nvPr/>
        </p:nvSpPr>
        <p:spPr>
          <a:xfrm>
            <a:off x="640075" y="2468875"/>
            <a:ext cx="8219400" cy="777300"/>
          </a:xfrm>
          <a:prstGeom prst="roundRect">
            <a:avLst>
              <a:gd fmla="val 16667" name="adj"/>
            </a:avLst>
          </a:prstGeom>
          <a:solidFill>
            <a:srgbClr val="FBF7EC"/>
          </a:solidFill>
          <a:ln cap="flat" cmpd="sng" w="12700">
            <a:solidFill>
              <a:srgbClr val="F2E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1" name="Google Shape;271;p23"/>
          <p:cNvSpPr txBox="1"/>
          <p:nvPr/>
        </p:nvSpPr>
        <p:spPr>
          <a:xfrm>
            <a:off x="789650" y="2662450"/>
            <a:ext cx="664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Live-застосунок:</a:t>
            </a:r>
            <a:r>
              <a:rPr b="1" i="0" lang="en-US" sz="18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600" u="sng">
                <a:solidFill>
                  <a:srgbClr val="262626"/>
                </a:solidFill>
                <a:latin typeface="DM Sans"/>
                <a:ea typeface="DM Sans"/>
                <a:cs typeface="DM Sans"/>
                <a:sym typeface="DM Sans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https://family-wallet.pages.dev/</a:t>
            </a:r>
            <a:r>
              <a:rPr lang="en-US" sz="1600">
                <a:solidFill>
                  <a:srgbClr val="262626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endParaRPr sz="1900">
              <a:solidFill>
                <a:srgbClr val="262626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2" name="Google Shape;272;p23"/>
          <p:cNvSpPr/>
          <p:nvPr/>
        </p:nvSpPr>
        <p:spPr>
          <a:xfrm>
            <a:off x="640075" y="3383275"/>
            <a:ext cx="8219400" cy="777300"/>
          </a:xfrm>
          <a:prstGeom prst="roundRect">
            <a:avLst>
              <a:gd fmla="val 16667" name="adj"/>
            </a:avLst>
          </a:prstGeom>
          <a:solidFill>
            <a:srgbClr val="FBF7EC"/>
          </a:solidFill>
          <a:ln cap="flat" cmpd="sng" w="12700">
            <a:solidFill>
              <a:srgbClr val="F2E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3" name="Google Shape;273;p23"/>
          <p:cNvSpPr txBox="1"/>
          <p:nvPr/>
        </p:nvSpPr>
        <p:spPr>
          <a:xfrm>
            <a:off x="777175" y="3594925"/>
            <a:ext cx="7945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GitHub:  </a:t>
            </a:r>
            <a:r>
              <a:rPr i="0" lang="en-US" sz="1600" u="none" cap="none" strike="noStrike">
                <a:solidFill>
                  <a:srgbClr val="262626"/>
                </a:solidFill>
                <a:latin typeface="DM Sans"/>
                <a:ea typeface="DM Sans"/>
                <a:cs typeface="DM Sans"/>
                <a:sym typeface="DM Sans"/>
              </a:rPr>
              <a:t>https://github.com/Uni-Project-143/Family-Wallet</a:t>
            </a:r>
            <a:endParaRPr sz="1600">
              <a:solidFill>
                <a:srgbClr val="262626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640075" y="4297675"/>
            <a:ext cx="8289300" cy="777300"/>
          </a:xfrm>
          <a:prstGeom prst="roundRect">
            <a:avLst>
              <a:gd fmla="val 16667" name="adj"/>
            </a:avLst>
          </a:prstGeom>
          <a:solidFill>
            <a:srgbClr val="FBF7EC"/>
          </a:solidFill>
          <a:ln cap="flat" cmpd="sng" w="12700">
            <a:solidFill>
              <a:srgbClr val="F2E9C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i="0" sz="1800" u="none" cap="none" strike="noStrik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89650" y="4512100"/>
            <a:ext cx="87198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9B7A25"/>
                </a:solidFill>
                <a:latin typeface="DM Sans"/>
                <a:ea typeface="DM Sans"/>
                <a:cs typeface="DM Sans"/>
                <a:sym typeface="DM Sans"/>
              </a:rPr>
              <a:t>API-документація (Swagger):</a:t>
            </a:r>
            <a:r>
              <a:rPr b="1" i="0" lang="en-US" sz="1600" u="none" cap="none" strike="noStrik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</a:t>
            </a:r>
            <a:r>
              <a:rPr lang="en-US" sz="1550">
                <a:solidFill>
                  <a:srgbClr val="B8973A"/>
                </a:solidFill>
                <a:latin typeface="DM Sans"/>
                <a:ea typeface="DM Sans"/>
                <a:cs typeface="DM Sans"/>
                <a:sym typeface="DM Sans"/>
              </a:rPr>
              <a:t>  </a:t>
            </a:r>
            <a:r>
              <a:rPr lang="en-US" sz="1550">
                <a:solidFill>
                  <a:srgbClr val="262626"/>
                </a:solidFill>
                <a:uFill>
                  <a:noFill/>
                </a:uFill>
                <a:latin typeface="DM Sans"/>
                <a:ea typeface="DM Sans"/>
                <a:cs typeface="DM Sans"/>
                <a:sym typeface="DM Sans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https://family-wallet-backend-tb1v.onrender.com/</a:t>
            </a:r>
            <a:r>
              <a:rPr lang="en-US" sz="1600">
                <a:solidFill>
                  <a:srgbClr val="262626"/>
                </a:solidFill>
                <a:latin typeface="DM Sans"/>
                <a:ea typeface="DM Sans"/>
                <a:cs typeface="DM Sans"/>
                <a:sym typeface="DM Sans"/>
              </a:rPr>
              <a:t>docs </a:t>
            </a:r>
            <a:endParaRPr sz="2200">
              <a:solidFill>
                <a:srgbClr val="262626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grpSp>
        <p:nvGrpSpPr>
          <p:cNvPr id="276" name="Google Shape;276;p23"/>
          <p:cNvGrpSpPr/>
          <p:nvPr/>
        </p:nvGrpSpPr>
        <p:grpSpPr>
          <a:xfrm>
            <a:off x="9380910" y="3743900"/>
            <a:ext cx="2148900" cy="2331600"/>
            <a:chOff x="9281160" y="4343400"/>
            <a:chExt cx="2148900" cy="2331600"/>
          </a:xfrm>
        </p:grpSpPr>
        <p:sp>
          <p:nvSpPr>
            <p:cNvPr id="277" name="Google Shape;277;p23"/>
            <p:cNvSpPr/>
            <p:nvPr/>
          </p:nvSpPr>
          <p:spPr>
            <a:xfrm>
              <a:off x="9281160" y="4343400"/>
              <a:ext cx="2148900" cy="2331600"/>
            </a:xfrm>
            <a:prstGeom prst="roundRect">
              <a:avLst>
                <a:gd fmla="val 16667" name="adj"/>
              </a:avLst>
            </a:prstGeom>
            <a:solidFill>
              <a:srgbClr val="FFFFFF"/>
            </a:solidFill>
            <a:ln cap="flat" cmpd="sng" w="19050">
              <a:solidFill>
                <a:srgbClr val="B8973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descr="qr_github.png" id="278" name="Google Shape;278;p2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9464040" y="4526280"/>
              <a:ext cx="1783080" cy="178308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9" name="Google Shape;279;p23"/>
            <p:cNvSpPr txBox="1"/>
            <p:nvPr/>
          </p:nvSpPr>
          <p:spPr>
            <a:xfrm>
              <a:off x="9281160" y="6355080"/>
              <a:ext cx="21489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i="0" lang="en-US" sz="1200" u="none" cap="none" strike="noStrike">
                  <a:solidFill>
                    <a:srgbClr val="9B7A25"/>
                  </a:solidFill>
                  <a:latin typeface="DM Sans"/>
                  <a:ea typeface="DM Sans"/>
                  <a:cs typeface="DM Sans"/>
                  <a:sym typeface="DM Sans"/>
                </a:rPr>
                <a:t>Скануй → GitHub</a:t>
              </a:r>
              <a:endParaRPr sz="1600">
                <a:latin typeface="DM Sans"/>
                <a:ea typeface="DM Sans"/>
                <a:cs typeface="DM Sans"/>
                <a:sym typeface="DM Sans"/>
              </a:endParaRPr>
            </a:p>
          </p:txBody>
        </p:sp>
      </p:grp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5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1100"/>
                            </p:stCondLst>
                            <p:childTnLst>
                              <p:par>
                                <p:cTn fill="hold" nodeType="after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5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